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C5C44-E5CD-4D77-96BA-56FCDB1C44E5}" v="7" dt="2026-10-19T23:51:13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89" autoAdjust="0"/>
  </p:normalViewPr>
  <p:slideViewPr>
    <p:cSldViewPr snapToGrid="0" snapToObjects="1">
      <p:cViewPr varScale="1">
        <p:scale>
          <a:sx n="80" d="100"/>
          <a:sy n="80" d="100"/>
        </p:scale>
        <p:origin x="54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Moreira" userId="a074d5cff11e4feb" providerId="LiveId" clId="{A3AE0FC4-E642-4DAF-99C2-2E02E3CB77AA}"/>
    <pc:docChg chg="modSld">
      <pc:chgData name="André Moreira" userId="a074d5cff11e4feb" providerId="LiveId" clId="{A3AE0FC4-E642-4DAF-99C2-2E02E3CB77AA}" dt="2026-10-19T23:51:13.859" v="6"/>
      <pc:docMkLst>
        <pc:docMk/>
      </pc:docMkLst>
      <pc:sldChg chg="modSp">
        <pc:chgData name="André Moreira" userId="a074d5cff11e4feb" providerId="LiveId" clId="{A3AE0FC4-E642-4DAF-99C2-2E02E3CB77AA}" dt="2026-10-19T22:35:55.956" v="3"/>
        <pc:sldMkLst>
          <pc:docMk/>
          <pc:sldMk cId="0" sldId="261"/>
        </pc:sldMkLst>
        <pc:spChg chg="mod">
          <ac:chgData name="André Moreira" userId="a074d5cff11e4feb" providerId="LiveId" clId="{A3AE0FC4-E642-4DAF-99C2-2E02E3CB77AA}" dt="2026-10-19T22:17:12.001" v="0"/>
          <ac:spMkLst>
            <pc:docMk/>
            <pc:sldMk cId="0" sldId="261"/>
            <ac:spMk id="6" creationId="{00000000-0000-0000-0000-000000000000}"/>
          </ac:spMkLst>
        </pc:spChg>
        <pc:spChg chg="mod">
          <ac:chgData name="André Moreira" userId="a074d5cff11e4feb" providerId="LiveId" clId="{A3AE0FC4-E642-4DAF-99C2-2E02E3CB77AA}" dt="2026-10-19T22:35:55.956" v="3"/>
          <ac:spMkLst>
            <pc:docMk/>
            <pc:sldMk cId="0" sldId="261"/>
            <ac:spMk id="10" creationId="{00000000-0000-0000-0000-000000000000}"/>
          </ac:spMkLst>
        </pc:spChg>
      </pc:sldChg>
      <pc:sldChg chg="modSp">
        <pc:chgData name="André Moreira" userId="a074d5cff11e4feb" providerId="LiveId" clId="{A3AE0FC4-E642-4DAF-99C2-2E02E3CB77AA}" dt="2026-10-19T23:51:13.859" v="6"/>
        <pc:sldMkLst>
          <pc:docMk/>
          <pc:sldMk cId="0" sldId="262"/>
        </pc:sldMkLst>
        <pc:spChg chg="mod">
          <ac:chgData name="André Moreira" userId="a074d5cff11e4feb" providerId="LiveId" clId="{A3AE0FC4-E642-4DAF-99C2-2E02E3CB77AA}" dt="2026-10-19T23:51:13.859" v="6"/>
          <ac:spMkLst>
            <pc:docMk/>
            <pc:sldMk cId="0" sldId="262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18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Apresentação do Projeto de Gestão de Operações e Cadeia de Suprimentos (GO e CS). Foco na automação das etapas 1 e 2 do forecast no AERA para eliminar distorções intencionais e reduzir perdas por Lost Sales e D&amp;O.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Detalhamento dos gargalos operacionais identificados no estudo do cenário farmacêutico. O lead time de 5 meses agrava o impacto de ajustes subjetivos no AERA, gerando descarte (D&amp;O) ou falta (Lost Sales).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1ABE2-6A51-6E51-3A94-CD2D995D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A3060-B223-E74B-23E7-E43DD97A8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D8119-1301-34A9-1B20-CAF08D9F4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Apresentação da imagem do fluxo AS-IS (as-is-v4.png) com detalhamento de cada uma das 5 etapas e destaque aos atritos na etapa 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709AD-599C-915C-A3BC-F66813FF2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37218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Apresentação do fluxo TO-BE (to-be-v1.png), com destaque para as modificações nas Etapas 1 e 2 e preservação total do fluxo logístico posterior.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Condições do Gate 0. Nenhuma etapa de configuração do AERA ou go-live pode iniciar sem aprovação formal e documentada dessas 5 dimensões por todas as diretorias envolvidas.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Plano de execução sequencial do Plano de Implantação v4, abrangendo desde a preparação de dados até a estabilização e apuração das métricas de sucesso.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Matriz de riscos e protocolo de contingência do projeto de implantação v4, garantindo resiliência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t>PROJETO DE GESTÃO DE OPERAÇÕES E CADEIA DE SUPRIMENTOS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t>Otimização e Automação do Fluxo de Forecast no Sistema AERA</a:t>
            </a:r>
          </a:p>
          <a:p>
            <a:pPr>
              <a:spcAft>
                <a:spcPts val="2800"/>
              </a:spcAft>
              <a:defRPr sz="1800">
                <a:solidFill>
                  <a:srgbClr val="DCE6F1"/>
                </a:solidFill>
                <a:latin typeface="Verdana"/>
              </a:defRPr>
            </a:pPr>
            <a:r>
              <a:t>Redesenho do Processo de Demanda, Mapeamento AS-IS/TO-BE e Plano de Implantação</a:t>
            </a:r>
          </a:p>
          <a:p>
            <a:pPr>
              <a:defRPr sz="1300">
                <a:solidFill>
                  <a:srgbClr val="AABBCC"/>
                </a:solidFill>
                <a:latin typeface="Verdana"/>
              </a:defRPr>
            </a:pPr>
            <a:r>
              <a:t>Docentes: Prof. Dr. Alvair Silveira Torres Jr. &amp; Profa. Dra. Marisangela (2026)</a:t>
            </a:r>
            <a:br/>
            <a:r>
              <a:t>Indústria Farmacêutica — Unidade Brasil &amp; Operações Globais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Conflito Comercial vs. Supply Chain e Lead Time de 5 Meses Geram Elevadas Perdas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/>
              </a:defRPr>
            </a:pPr>
            <a:r>
              <a:t>GARGALO CRÍTICO 1</a:t>
            </a:r>
          </a:p>
          <a:p>
            <a:pPr>
              <a:spcAft>
                <a:spcPts val="1000"/>
              </a:spcAft>
              <a:defRPr sz="3600" b="1">
                <a:solidFill>
                  <a:srgbClr val="1B2A4A"/>
                </a:solidFill>
                <a:latin typeface="Georgia"/>
              </a:defRPr>
            </a:pPr>
            <a:r>
              <a:t>5 Meses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t>Lead Time Médio Global</a:t>
            </a:r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t>• Transcurso entre o envio do forecast pelas sucursais locais e a chegada efetiva do medicamento ao operador logístico no Brasil.</a:t>
            </a:r>
            <a:br/>
            <a:r>
              <a:t>• Longa janela exige alta precisão do planejamento de vendas, tornando qualquer distorção altamente amplificada.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r>
              <a:rPr dirty="0"/>
              <a:t>GARGALO CRÍTICO 2</a:t>
            </a:r>
          </a:p>
          <a:p>
            <a:pPr>
              <a:spcAft>
                <a:spcPts val="1000"/>
              </a:spcAft>
              <a:defRPr sz="3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Subjetividade</a:t>
            </a:r>
            <a:endParaRPr dirty="0"/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rPr dirty="0" err="1"/>
              <a:t>Ajustes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endParaRPr dirty="0"/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Conflito</a:t>
            </a:r>
            <a:r>
              <a:rPr dirty="0"/>
              <a:t> de interesses: Marketing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maximizar</a:t>
            </a:r>
            <a:r>
              <a:rPr dirty="0"/>
              <a:t> volume e </a:t>
            </a:r>
            <a:r>
              <a:rPr dirty="0" err="1"/>
              <a:t>metas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, </a:t>
            </a:r>
            <a:r>
              <a:rPr dirty="0" err="1"/>
              <a:t>inserindo</a:t>
            </a:r>
            <a:r>
              <a:rPr dirty="0"/>
              <a:t> '</a:t>
            </a:r>
            <a:r>
              <a:rPr dirty="0" err="1"/>
              <a:t>gordura</a:t>
            </a:r>
            <a:r>
              <a:rPr dirty="0"/>
              <a:t>'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realizando</a:t>
            </a:r>
            <a:r>
              <a:rPr dirty="0"/>
              <a:t> cortes </a:t>
            </a:r>
            <a:r>
              <a:rPr dirty="0" err="1"/>
              <a:t>arbitrários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Ausência</a:t>
            </a:r>
            <a:r>
              <a:rPr dirty="0"/>
              <a:t> de </a:t>
            </a:r>
            <a:r>
              <a:rPr dirty="0" err="1"/>
              <a:t>critérios</a:t>
            </a:r>
            <a:r>
              <a:rPr dirty="0"/>
              <a:t> </a:t>
            </a:r>
            <a:r>
              <a:rPr dirty="0" err="1"/>
              <a:t>formais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retenção</a:t>
            </a:r>
            <a:r>
              <a:rPr dirty="0"/>
              <a:t> de histórico de </a:t>
            </a:r>
            <a:r>
              <a:rPr dirty="0" err="1"/>
              <a:t>alterações</a:t>
            </a:r>
            <a:r>
              <a:rPr dirty="0"/>
              <a:t> </a:t>
            </a:r>
            <a:r>
              <a:rPr dirty="0" err="1"/>
              <a:t>dificulta</a:t>
            </a:r>
            <a:r>
              <a:rPr dirty="0"/>
              <a:t> a auditoria e </a:t>
            </a:r>
            <a:r>
              <a:rPr dirty="0" err="1"/>
              <a:t>gera</a:t>
            </a:r>
            <a:r>
              <a:rPr dirty="0"/>
              <a:t> </a:t>
            </a:r>
            <a:r>
              <a:rPr dirty="0" err="1"/>
              <a:t>desalinhamento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/>
              </a:defRPr>
            </a:pPr>
            <a:r>
              <a:t>IMPACTOS NO NEGÓCIO</a:t>
            </a:r>
          </a:p>
          <a:p>
            <a:pPr>
              <a:spcAft>
                <a:spcPts val="1000"/>
              </a:spcAft>
              <a:defRPr sz="3000" b="1">
                <a:solidFill>
                  <a:srgbClr val="1B2A4A"/>
                </a:solidFill>
                <a:latin typeface="Georgia"/>
              </a:defRPr>
            </a:pPr>
            <a:r>
              <a:t>D&amp;O e Lost Sales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t>Desperdício e Ruptura</a:t>
            </a:r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t>• Lost Sales: Perda de receita direta por falta de produto frente à demanda real de mercado.</a:t>
            </a:r>
            <a:br/>
            <a:r>
              <a:t>• D&amp;O (Destruição &amp; Obsolescência): Prejuízo financeiro por descarte de medicamentos vencidos estocados em excesso.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B2CCA-186D-D716-A883-5790787F2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6B7C6-1ED8-DA2D-F501-E988D536926A}"/>
              </a:ext>
            </a:extLst>
          </p:cNvPr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C93F6-496E-870C-3F85-E164A6553429}"/>
              </a:ext>
            </a:extLst>
          </p:cNvPr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Mapeamento AS-IS Ilustra o Fluxo Manual e os Pontos de Atrito Interdepartamental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32C1AF-C8B2-53F6-6125-CB714554C6B3}"/>
              </a:ext>
            </a:extLst>
          </p:cNvPr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s-is-v4.png">
            <a:extLst>
              <a:ext uri="{FF2B5EF4-FFF2-40B4-BE49-F238E27FC236}">
                <a16:creationId xmlns:a16="http://schemas.microsoft.com/office/drawing/2014/main" id="{45FE9E1E-F943-B2FB-7E94-8797DE6D3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583680" cy="4581144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DC52ED-3482-C78D-3F53-FF4B31363513}"/>
              </a:ext>
            </a:extLst>
          </p:cNvPr>
          <p:cNvSpPr/>
          <p:nvPr/>
        </p:nvSpPr>
        <p:spPr>
          <a:xfrm>
            <a:off x="7315200" y="1554480"/>
            <a:ext cx="43278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ANÁLISE DO PROCESSO AS-IS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dirty="0"/>
              <a:t>• Etapa 1 — Coleta </a:t>
            </a:r>
            <a:r>
              <a:rPr dirty="0" err="1"/>
              <a:t>Comercial</a:t>
            </a:r>
            <a:endParaRPr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dirty="0"/>
              <a:t>Marketing coleta a </a:t>
            </a:r>
            <a:r>
              <a:rPr dirty="0" err="1"/>
              <a:t>expectativa</a:t>
            </a:r>
            <a:r>
              <a:rPr dirty="0"/>
              <a:t> mensal de </a:t>
            </a:r>
            <a:r>
              <a:rPr dirty="0" err="1"/>
              <a:t>vendas</a:t>
            </a:r>
            <a:r>
              <a:rPr dirty="0"/>
              <a:t> com </a:t>
            </a:r>
            <a:r>
              <a:rPr dirty="0" err="1"/>
              <a:t>Comercial</a:t>
            </a:r>
            <a:r>
              <a:rPr dirty="0"/>
              <a:t> para </a:t>
            </a:r>
            <a:r>
              <a:rPr dirty="0" err="1"/>
              <a:t>projeção</a:t>
            </a:r>
            <a:r>
              <a:rPr dirty="0"/>
              <a:t> de 24 meses.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dirty="0"/>
              <a:t>• Etapa 2 — </a:t>
            </a:r>
            <a:r>
              <a:rPr dirty="0" err="1"/>
              <a:t>Ajustes</a:t>
            </a:r>
            <a:r>
              <a:rPr dirty="0"/>
              <a:t> </a:t>
            </a:r>
            <a:r>
              <a:rPr dirty="0" err="1"/>
              <a:t>Manuais</a:t>
            </a:r>
            <a:endParaRPr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dirty="0"/>
              <a:t>Marketing </a:t>
            </a:r>
            <a:r>
              <a:rPr dirty="0" err="1"/>
              <a:t>consolida</a:t>
            </a:r>
            <a:r>
              <a:rPr dirty="0"/>
              <a:t> dados no AERA </a:t>
            </a:r>
            <a:r>
              <a:rPr dirty="0" err="1"/>
              <a:t>aplicandogorduras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cortes </a:t>
            </a:r>
            <a:r>
              <a:rPr dirty="0" err="1"/>
              <a:t>subjetivos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registro</a:t>
            </a:r>
            <a:r>
              <a:rPr dirty="0"/>
              <a:t> formal de </a:t>
            </a:r>
            <a:r>
              <a:rPr dirty="0" err="1"/>
              <a:t>justificativa</a:t>
            </a:r>
            <a:r>
              <a:rPr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dirty="0"/>
              <a:t>• Etapa 3 — Sanity Check Local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dirty="0"/>
              <a:t>Supply Chain Local </a:t>
            </a:r>
            <a:r>
              <a:rPr dirty="0" err="1"/>
              <a:t>consolida</a:t>
            </a:r>
            <a:r>
              <a:rPr dirty="0"/>
              <a:t> e </a:t>
            </a:r>
            <a:r>
              <a:rPr dirty="0" err="1"/>
              <a:t>compara</a:t>
            </a:r>
            <a:r>
              <a:rPr dirty="0"/>
              <a:t> com o Plano </a:t>
            </a:r>
            <a:r>
              <a:rPr dirty="0" err="1"/>
              <a:t>Financeiro</a:t>
            </a:r>
            <a:r>
              <a:rPr dirty="0"/>
              <a:t> (SAP Analytics Cloud Planning).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dirty="0"/>
              <a:t>• Etapa 4 — </a:t>
            </a:r>
            <a:r>
              <a:rPr dirty="0" err="1"/>
              <a:t>Produção</a:t>
            </a:r>
            <a:r>
              <a:rPr dirty="0"/>
              <a:t> Global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dirty="0"/>
              <a:t>Fábricas </a:t>
            </a:r>
            <a:r>
              <a:rPr dirty="0" err="1"/>
              <a:t>globais</a:t>
            </a:r>
            <a:r>
              <a:rPr dirty="0"/>
              <a:t> </a:t>
            </a:r>
            <a:r>
              <a:rPr dirty="0" err="1"/>
              <a:t>recebem</a:t>
            </a:r>
            <a:r>
              <a:rPr dirty="0"/>
              <a:t> a </a:t>
            </a:r>
            <a:r>
              <a:rPr dirty="0" err="1"/>
              <a:t>demanda</a:t>
            </a:r>
            <a:r>
              <a:rPr dirty="0"/>
              <a:t> com lead time </a:t>
            </a:r>
            <a:r>
              <a:rPr dirty="0" err="1"/>
              <a:t>médio</a:t>
            </a:r>
            <a:r>
              <a:rPr dirty="0"/>
              <a:t> de 5 meses </a:t>
            </a:r>
            <a:r>
              <a:rPr dirty="0" err="1"/>
              <a:t>até</a:t>
            </a:r>
            <a:r>
              <a:rPr dirty="0"/>
              <a:t> a filial </a:t>
            </a:r>
            <a:r>
              <a:rPr dirty="0" err="1"/>
              <a:t>Brasil</a:t>
            </a:r>
            <a:r>
              <a:rPr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dirty="0"/>
              <a:t>• Etapa 5 — </a:t>
            </a:r>
            <a:r>
              <a:rPr dirty="0" err="1"/>
              <a:t>Logística</a:t>
            </a:r>
            <a:r>
              <a:rPr dirty="0"/>
              <a:t> &amp; Venda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dirty="0"/>
              <a:t>Transporte (</a:t>
            </a:r>
            <a:r>
              <a:rPr dirty="0" err="1"/>
              <a:t>aéreo</a:t>
            </a:r>
            <a:r>
              <a:rPr dirty="0"/>
              <a:t>/</a:t>
            </a:r>
            <a:r>
              <a:rPr dirty="0" err="1"/>
              <a:t>marítimo</a:t>
            </a:r>
            <a:r>
              <a:rPr dirty="0"/>
              <a:t>), </a:t>
            </a:r>
            <a:r>
              <a:rPr dirty="0" err="1"/>
              <a:t>desembaraço</a:t>
            </a:r>
            <a:r>
              <a:rPr dirty="0"/>
              <a:t>, </a:t>
            </a:r>
            <a:r>
              <a:rPr dirty="0" err="1"/>
              <a:t>operador</a:t>
            </a:r>
            <a:r>
              <a:rPr dirty="0"/>
              <a:t> </a:t>
            </a:r>
            <a:r>
              <a:rPr dirty="0" err="1"/>
              <a:t>logístico</a:t>
            </a:r>
            <a:r>
              <a:rPr dirty="0"/>
              <a:t> e </a:t>
            </a:r>
            <a:r>
              <a:rPr dirty="0" err="1"/>
              <a:t>liberação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8610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Redesenho TO-BE Automatiza Proposta Inicial e Exige Justificativa e Governança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o-be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554480"/>
            <a:ext cx="10739437" cy="4582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554480"/>
            <a:ext cx="43278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INOVAÇÕES DO FLUXO TO-BE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dirty="0"/>
              <a:t>✔ Etapa 1 (</a:t>
            </a:r>
            <a:r>
              <a:rPr dirty="0" err="1"/>
              <a:t>Redesenhada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dirty="0"/>
              <a:t>AERA </a:t>
            </a:r>
            <a:r>
              <a:rPr dirty="0" err="1"/>
              <a:t>gera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do Plano </a:t>
            </a:r>
            <a:r>
              <a:rPr dirty="0" err="1"/>
              <a:t>Financeiro</a:t>
            </a:r>
            <a:r>
              <a:rPr dirty="0"/>
              <a:t> </a:t>
            </a:r>
            <a:r>
              <a:rPr dirty="0" err="1"/>
              <a:t>aprovado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dirty="0"/>
              <a:t>✔ Etapa 2 (</a:t>
            </a:r>
            <a:r>
              <a:rPr dirty="0" err="1"/>
              <a:t>Redesenhada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dirty="0"/>
              <a:t>Marketing </a:t>
            </a:r>
            <a:r>
              <a:rPr dirty="0" err="1"/>
              <a:t>avalia</a:t>
            </a:r>
            <a:r>
              <a:rPr dirty="0"/>
              <a:t> e </a:t>
            </a:r>
            <a:r>
              <a:rPr dirty="0" err="1"/>
              <a:t>submete</a:t>
            </a:r>
            <a:r>
              <a:rPr dirty="0"/>
              <a:t> </a:t>
            </a:r>
            <a:r>
              <a:rPr dirty="0" err="1"/>
              <a:t>solicitações</a:t>
            </a:r>
            <a:r>
              <a:rPr dirty="0"/>
              <a:t> com valor, </a:t>
            </a:r>
            <a:r>
              <a:rPr dirty="0" err="1"/>
              <a:t>justificativa</a:t>
            </a:r>
            <a:r>
              <a:rPr dirty="0"/>
              <a:t> e </a:t>
            </a:r>
            <a:r>
              <a:rPr dirty="0" err="1"/>
              <a:t>comentário</a:t>
            </a:r>
            <a:r>
              <a:rPr dirty="0"/>
              <a:t> </a:t>
            </a:r>
            <a:r>
              <a:rPr dirty="0" err="1"/>
              <a:t>obrigatórios</a:t>
            </a:r>
            <a:r>
              <a:rPr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dirty="0"/>
              <a:t>✔ </a:t>
            </a: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Autorização</a:t>
            </a:r>
            <a:endParaRPr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só</a:t>
            </a:r>
            <a:r>
              <a:rPr dirty="0"/>
              <a:t> é </a:t>
            </a:r>
            <a:r>
              <a:rPr dirty="0" err="1"/>
              <a:t>autorizado</a:t>
            </a:r>
            <a:r>
              <a:rPr dirty="0"/>
              <a:t> se superior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limite</a:t>
            </a:r>
            <a:r>
              <a:rPr dirty="0"/>
              <a:t> </a:t>
            </a:r>
            <a:r>
              <a:rPr dirty="0" err="1"/>
              <a:t>mínimo</a:t>
            </a:r>
            <a:r>
              <a:rPr dirty="0"/>
              <a:t> </a:t>
            </a:r>
            <a:r>
              <a:rPr dirty="0" err="1"/>
              <a:t>configurado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Global Supply Chain.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dirty="0"/>
              <a:t>✔ Trilha de Auditoria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dirty="0"/>
              <a:t>AERA </a:t>
            </a:r>
            <a:r>
              <a:rPr dirty="0" err="1"/>
              <a:t>retém</a:t>
            </a:r>
            <a:r>
              <a:rPr dirty="0"/>
              <a:t> </a:t>
            </a:r>
            <a:r>
              <a:rPr dirty="0" err="1"/>
              <a:t>solicitações</a:t>
            </a:r>
            <a:r>
              <a:rPr dirty="0"/>
              <a:t> </a:t>
            </a:r>
            <a:r>
              <a:rPr dirty="0" err="1"/>
              <a:t>aprovadas</a:t>
            </a:r>
            <a:r>
              <a:rPr dirty="0"/>
              <a:t> e </a:t>
            </a:r>
            <a:r>
              <a:rPr dirty="0" err="1"/>
              <a:t>negadas</a:t>
            </a:r>
            <a:r>
              <a:rPr dirty="0"/>
              <a:t>, </a:t>
            </a:r>
            <a:r>
              <a:rPr dirty="0" err="1"/>
              <a:t>usuário</a:t>
            </a:r>
            <a:r>
              <a:rPr dirty="0"/>
              <a:t>, data/hora para </a:t>
            </a:r>
            <a:r>
              <a:rPr dirty="0" err="1"/>
              <a:t>análise</a:t>
            </a:r>
            <a:r>
              <a:rPr dirty="0"/>
              <a:t> de </a:t>
            </a:r>
            <a:r>
              <a:rPr dirty="0" err="1"/>
              <a:t>risco</a:t>
            </a:r>
            <a:r>
              <a:rPr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dirty="0"/>
              <a:t>✔ </a:t>
            </a:r>
            <a:r>
              <a:rPr dirty="0" err="1"/>
              <a:t>Etapas</a:t>
            </a:r>
            <a:r>
              <a:rPr dirty="0"/>
              <a:t> </a:t>
            </a:r>
            <a:r>
              <a:rPr dirty="0" err="1"/>
              <a:t>Preservadas</a:t>
            </a:r>
            <a:r>
              <a:rPr dirty="0"/>
              <a:t> (3 a 5)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Manutenção</a:t>
            </a:r>
            <a:r>
              <a:rPr dirty="0"/>
              <a:t> integral do Sanity Check de Supply Chain Local, </a:t>
            </a:r>
            <a:r>
              <a:rPr dirty="0" err="1"/>
              <a:t>fábrica</a:t>
            </a:r>
            <a:r>
              <a:rPr dirty="0"/>
              <a:t> e </a:t>
            </a:r>
            <a:r>
              <a:rPr dirty="0" err="1"/>
              <a:t>logística</a:t>
            </a:r>
            <a:r>
              <a:rPr dirty="0"/>
              <a:t> global.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/>
              <a:t>Pré-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Obrigatórios</a:t>
            </a:r>
            <a:r>
              <a:rPr dirty="0"/>
              <a:t> de </a:t>
            </a:r>
            <a:r>
              <a:rPr dirty="0" err="1"/>
              <a:t>Governança</a:t>
            </a:r>
            <a:r>
              <a:rPr dirty="0"/>
              <a:t> Antes da </a:t>
            </a:r>
            <a:r>
              <a:rPr dirty="0" err="1"/>
              <a:t>Configuração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1. </a:t>
            </a: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Autorização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Definição</a:t>
            </a:r>
            <a:r>
              <a:rPr dirty="0"/>
              <a:t> formal de </a:t>
            </a:r>
            <a:r>
              <a:rPr dirty="0" err="1"/>
              <a:t>limite</a:t>
            </a:r>
            <a:r>
              <a:rPr dirty="0"/>
              <a:t> </a:t>
            </a:r>
            <a:r>
              <a:rPr dirty="0" err="1"/>
              <a:t>mínimo</a:t>
            </a:r>
            <a:r>
              <a:rPr lang="pt-BR" dirty="0"/>
              <a:t> para efetuar alterações no valor total por SKU contido no </a:t>
            </a:r>
            <a:r>
              <a:rPr lang="pt-BR" dirty="0" err="1"/>
              <a:t>forecast</a:t>
            </a:r>
            <a:r>
              <a:rPr lang="pt-BR" dirty="0"/>
              <a:t> gerado pela automação do AERA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48640" y="2487168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2. Fonte </a:t>
            </a:r>
            <a:r>
              <a:rPr dirty="0" err="1"/>
              <a:t>Financeira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Identificação</a:t>
            </a:r>
            <a:r>
              <a:rPr dirty="0"/>
              <a:t> da</a:t>
            </a:r>
            <a:r>
              <a:rPr lang="pt-BR" dirty="0"/>
              <a:t> última</a:t>
            </a:r>
            <a:r>
              <a:rPr dirty="0"/>
              <a:t> </a:t>
            </a:r>
            <a:r>
              <a:rPr dirty="0" err="1"/>
              <a:t>versão</a:t>
            </a:r>
            <a:r>
              <a:rPr dirty="0"/>
              <a:t> </a:t>
            </a:r>
            <a:r>
              <a:rPr dirty="0" err="1"/>
              <a:t>aprovada</a:t>
            </a:r>
            <a:r>
              <a:rPr dirty="0"/>
              <a:t> no SAP Analytics Cloud Planning, </a:t>
            </a:r>
            <a:r>
              <a:rPr dirty="0" err="1"/>
              <a:t>responsável</a:t>
            </a:r>
            <a:r>
              <a:rPr dirty="0"/>
              <a:t> de </a:t>
            </a:r>
            <a:r>
              <a:rPr dirty="0" err="1"/>
              <a:t>publicação</a:t>
            </a:r>
            <a:r>
              <a:rPr dirty="0"/>
              <a:t> e </a:t>
            </a:r>
            <a:r>
              <a:rPr dirty="0" err="1"/>
              <a:t>tratamento</a:t>
            </a:r>
            <a:r>
              <a:rPr dirty="0"/>
              <a:t> de dados </a:t>
            </a:r>
            <a:r>
              <a:rPr dirty="0" err="1"/>
              <a:t>ausentes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19856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3. </a:t>
            </a:r>
            <a:r>
              <a:rPr dirty="0" err="1"/>
              <a:t>Ajustes</a:t>
            </a:r>
            <a:r>
              <a:rPr dirty="0"/>
              <a:t>, Auditoria e </a:t>
            </a:r>
            <a:r>
              <a:rPr dirty="0" err="1"/>
              <a:t>Acessos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/>
              <a:t>Campos </a:t>
            </a:r>
            <a:r>
              <a:rPr dirty="0" err="1"/>
              <a:t>obrigatórios</a:t>
            </a:r>
            <a:r>
              <a:rPr dirty="0"/>
              <a:t> (valor, </a:t>
            </a:r>
            <a:r>
              <a:rPr dirty="0" err="1"/>
              <a:t>justificativa</a:t>
            </a:r>
            <a:r>
              <a:rPr dirty="0"/>
              <a:t>, </a:t>
            </a:r>
            <a:r>
              <a:rPr dirty="0" err="1"/>
              <a:t>comentário</a:t>
            </a:r>
            <a:r>
              <a:rPr dirty="0"/>
              <a:t>), </a:t>
            </a:r>
            <a:r>
              <a:rPr dirty="0" err="1"/>
              <a:t>retenção</a:t>
            </a:r>
            <a:r>
              <a:rPr dirty="0"/>
              <a:t> </a:t>
            </a:r>
            <a:r>
              <a:rPr dirty="0" err="1"/>
              <a:t>histórica</a:t>
            </a:r>
            <a:r>
              <a:rPr dirty="0"/>
              <a:t> completa e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perfis</a:t>
            </a:r>
            <a:r>
              <a:rPr dirty="0"/>
              <a:t> </a:t>
            </a:r>
            <a:r>
              <a:rPr dirty="0" err="1"/>
              <a:t>autorizados</a:t>
            </a:r>
            <a:r>
              <a:rPr dirty="0"/>
              <a:t> no AERA.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52544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4. </a:t>
            </a:r>
            <a:r>
              <a:rPr dirty="0" err="1"/>
              <a:t>Saída</a:t>
            </a:r>
            <a:r>
              <a:rPr dirty="0"/>
              <a:t> para Sanity Check (Etapa 3)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lang="pt-BR" dirty="0"/>
              <a:t>Verificação do valor proposto no </a:t>
            </a:r>
            <a:r>
              <a:rPr lang="pt-BR" dirty="0" err="1"/>
              <a:t>forecast</a:t>
            </a:r>
            <a:r>
              <a:rPr lang="pt-BR" dirty="0"/>
              <a:t> final em comparação com os valores históricos de venda para cada SKU. 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lang="pt-BR" dirty="0"/>
              <a:t>Exemplo: historicamente a venda de uma SKU flutua entre 1000 e 1200 e o </a:t>
            </a:r>
            <a:r>
              <a:rPr lang="pt-BR" dirty="0" err="1"/>
              <a:t>forecast</a:t>
            </a:r>
            <a:r>
              <a:rPr lang="pt-BR" dirty="0"/>
              <a:t> está em 25000.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Plano de Execução Sequencial em 6 Fases Garante Simulação e Entrada Segura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1: Dados &amp; </a:t>
            </a:r>
            <a:r>
              <a:rPr dirty="0" err="1"/>
              <a:t>Ambiente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Carga do plano </a:t>
            </a:r>
            <a:r>
              <a:rPr dirty="0" err="1"/>
              <a:t>financeiro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Carga do histórico de vendas por SKU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Validação dos dados carregados para cada SKU</a:t>
            </a:r>
            <a:br>
              <a:rPr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2: </a:t>
            </a:r>
            <a:r>
              <a:rPr dirty="0" err="1"/>
              <a:t>Configuração</a:t>
            </a:r>
            <a:r>
              <a:rPr dirty="0"/>
              <a:t> AERA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Implementação da automação no AERA 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Criação de f</a:t>
            </a:r>
            <a:r>
              <a:rPr dirty="0" err="1"/>
              <a:t>ormulário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Inclusão da</a:t>
            </a:r>
            <a:r>
              <a:rPr dirty="0"/>
              <a:t> </a:t>
            </a:r>
            <a:r>
              <a:rPr dirty="0" err="1"/>
              <a:t>regra</a:t>
            </a:r>
            <a:r>
              <a:rPr dirty="0"/>
              <a:t> </a:t>
            </a:r>
            <a:r>
              <a:rPr lang="pt-BR" dirty="0"/>
              <a:t>de </a:t>
            </a:r>
            <a:r>
              <a:rPr dirty="0" err="1"/>
              <a:t>limite</a:t>
            </a:r>
            <a:r>
              <a:rPr lang="pt-BR" dirty="0"/>
              <a:t> por SKU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Criação das funcionalidades</a:t>
            </a:r>
            <a:r>
              <a:rPr dirty="0"/>
              <a:t> de auditoria.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3: Teste </a:t>
            </a:r>
            <a:r>
              <a:rPr lang="pt-BR" dirty="0"/>
              <a:t>funcional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Bloqueio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Bloqueio</a:t>
            </a:r>
            <a:r>
              <a:rPr dirty="0"/>
              <a:t> de </a:t>
            </a:r>
            <a:r>
              <a:rPr lang="pt-BR" dirty="0"/>
              <a:t>alterações abaixo do </a:t>
            </a:r>
            <a:r>
              <a:rPr dirty="0" err="1"/>
              <a:t>limite</a:t>
            </a:r>
            <a:r>
              <a:rPr lang="pt-BR"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Geração </a:t>
            </a:r>
            <a:r>
              <a:rPr dirty="0"/>
              <a:t>de </a:t>
            </a:r>
            <a:r>
              <a:rPr dirty="0" err="1"/>
              <a:t>relatório</a:t>
            </a:r>
            <a:r>
              <a:rPr lang="pt-BR" dirty="0"/>
              <a:t> de alterações</a:t>
            </a:r>
            <a:r>
              <a:rPr dirty="0"/>
              <a:t> </a:t>
            </a:r>
            <a:r>
              <a:rPr lang="pt-BR" dirty="0"/>
              <a:t>para</a:t>
            </a:r>
            <a:r>
              <a:rPr dirty="0"/>
              <a:t> auditoria.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4: </a:t>
            </a:r>
            <a:r>
              <a:rPr dirty="0" err="1"/>
              <a:t>Simulação</a:t>
            </a:r>
            <a:r>
              <a:rPr lang="pt-BR" dirty="0"/>
              <a:t> completa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Execução</a:t>
            </a:r>
            <a:r>
              <a:rPr dirty="0"/>
              <a:t> de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no AERA.</a:t>
            </a:r>
            <a:br>
              <a:rPr dirty="0"/>
            </a:br>
            <a:r>
              <a:rPr dirty="0"/>
              <a:t>• </a:t>
            </a:r>
            <a:r>
              <a:rPr dirty="0" err="1"/>
              <a:t>Validação</a:t>
            </a:r>
            <a:r>
              <a:rPr dirty="0"/>
              <a:t> da </a:t>
            </a:r>
            <a:r>
              <a:rPr dirty="0" err="1"/>
              <a:t>saída</a:t>
            </a:r>
            <a:r>
              <a:rPr dirty="0"/>
              <a:t> para o Sanity Check.</a:t>
            </a:r>
            <a:br>
              <a:rPr dirty="0"/>
            </a:br>
            <a:r>
              <a:rPr dirty="0"/>
              <a:t>• </a:t>
            </a:r>
            <a:r>
              <a:rPr dirty="0" err="1"/>
              <a:t>Aprovação</a:t>
            </a:r>
            <a:r>
              <a:rPr dirty="0"/>
              <a:t> d</a:t>
            </a:r>
            <a:r>
              <a:rPr lang="pt-BR" dirty="0"/>
              <a:t>o processo revisado por </a:t>
            </a:r>
            <a:r>
              <a:rPr dirty="0"/>
              <a:t>Marketing/Supply/Fin.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35803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5: </a:t>
            </a:r>
            <a:r>
              <a:rPr dirty="0" err="1"/>
              <a:t>Treinamento</a:t>
            </a:r>
            <a:r>
              <a:rPr dirty="0"/>
              <a:t> &amp; Go-Live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Capacitação</a:t>
            </a:r>
            <a:r>
              <a:rPr dirty="0"/>
              <a:t> de </a:t>
            </a:r>
            <a:r>
              <a:rPr lang="pt-BR" dirty="0"/>
              <a:t>stakeholders envolvidos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Comunicação</a:t>
            </a:r>
            <a:r>
              <a:rPr dirty="0"/>
              <a:t> do </a:t>
            </a:r>
            <a:r>
              <a:rPr dirty="0" err="1"/>
              <a:t>calendário</a:t>
            </a:r>
            <a:r>
              <a:rPr lang="pt-BR" dirty="0"/>
              <a:t> de implementação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Acompanhamento</a:t>
            </a:r>
            <a:r>
              <a:rPr dirty="0"/>
              <a:t> do </a:t>
            </a:r>
            <a:r>
              <a:rPr lang="pt-BR" dirty="0"/>
              <a:t>processo em produção por 6 meses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6: </a:t>
            </a:r>
            <a:r>
              <a:rPr dirty="0" err="1"/>
              <a:t>Estabilização</a:t>
            </a:r>
            <a:r>
              <a:rPr dirty="0"/>
              <a:t> &amp; KPIs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Relatório mensais de performance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Monitoração dos níveis</a:t>
            </a:r>
            <a:r>
              <a:rPr dirty="0"/>
              <a:t> de D&amp;O</a:t>
            </a:r>
            <a:r>
              <a:rPr lang="pt-BR" dirty="0"/>
              <a:t>, </a:t>
            </a:r>
            <a:r>
              <a:rPr dirty="0"/>
              <a:t>Lost Sales</a:t>
            </a:r>
            <a:r>
              <a:rPr lang="pt-BR" dirty="0"/>
              <a:t> e níveis de estoque.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Comparação</a:t>
            </a:r>
            <a:r>
              <a:rPr dirty="0"/>
              <a:t> contra baseline.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Avaliação dos gaps mais relevantes para entender as suas causas para melhoria contínua do processo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Matriz de Gestão de Riscos Prevê Mitigações e Protocolo de Contingência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420758"/>
              </p:ext>
            </p:extLst>
          </p:nvPr>
        </p:nvGraphicFramePr>
        <p:xfrm>
          <a:off x="548640" y="1554480"/>
          <a:ext cx="11094415" cy="227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1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Evento de Risco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rPr dirty="0" err="1"/>
                        <a:t>Ação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Prevenção</a:t>
                      </a:r>
                      <a:endParaRPr dirty="0"/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Condição de Superação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Ação se Não Atendida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Resistência à mudança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Alinhamento entre stakeholders </a:t>
                      </a:r>
                    </a:p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Apresentação dos benefícios da implementação do processo.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Definir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atuação visando a remoção de barreiras à implementação.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Acionamento do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coordenação com direção das áreas dos stakeholders.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Subdimensionamento da demanda por conta do baseline ser baseado no plano financeiro, que tende a ser mais conservador.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Mudança do plano financeiro para ficar alinhado com a expectativa de demanda realista compensada por estimativa conservadora em produtos específicos que que tenham justificativa.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Cultura de que financial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e </a:t>
                      </a:r>
                      <a:r>
                        <a:rPr lang="pt-BR" dirty="0" err="1"/>
                        <a:t>demand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devem andar juntos.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Gestão da situação pela equipe de marketing com o comercial.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391525"/>
            <a:ext cx="11094415" cy="14558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r>
              <a:rPr dirty="0"/>
              <a:t>PROTOCOLO DE CONTINGÊNCIA OPERACIONAL:</a:t>
            </a:r>
            <a:endParaRPr lang="pt-BR" dirty="0"/>
          </a:p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endParaRPr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/>
              <a:t>Em </a:t>
            </a:r>
            <a:r>
              <a:rPr dirty="0" err="1"/>
              <a:t>caso</a:t>
            </a:r>
            <a:r>
              <a:rPr dirty="0"/>
              <a:t> de </a:t>
            </a:r>
            <a:r>
              <a:rPr dirty="0" err="1"/>
              <a:t>falha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antes da </a:t>
            </a:r>
            <a:r>
              <a:rPr dirty="0" err="1"/>
              <a:t>consolidação</a:t>
            </a:r>
            <a:r>
              <a:rPr dirty="0"/>
              <a:t> do forecast, o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afetado</a:t>
            </a:r>
            <a:r>
              <a:rPr dirty="0"/>
              <a:t> </a:t>
            </a:r>
            <a:r>
              <a:rPr dirty="0" err="1"/>
              <a:t>retorna</a:t>
            </a:r>
            <a:r>
              <a:rPr dirty="0"/>
              <a:t> </a:t>
            </a:r>
            <a:r>
              <a:rPr dirty="0" err="1"/>
              <a:t>temporariamente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legado</a:t>
            </a:r>
            <a:r>
              <a:rPr dirty="0"/>
              <a:t> das </a:t>
            </a:r>
            <a:r>
              <a:rPr dirty="0" err="1"/>
              <a:t>etapas</a:t>
            </a:r>
            <a:r>
              <a:rPr dirty="0"/>
              <a:t> 1 e 2.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registrados</a:t>
            </a:r>
            <a:r>
              <a:rPr dirty="0"/>
              <a:t> no AERA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totalmente</a:t>
            </a:r>
            <a:r>
              <a:rPr dirty="0"/>
              <a:t> </a:t>
            </a:r>
            <a:r>
              <a:rPr dirty="0" err="1"/>
              <a:t>mantidos</a:t>
            </a:r>
            <a:r>
              <a:rPr dirty="0"/>
              <a:t> para auditoria e </a:t>
            </a:r>
            <a:r>
              <a:rPr dirty="0" err="1"/>
              <a:t>diagnóstico</a:t>
            </a:r>
            <a:r>
              <a:rPr dirty="0"/>
              <a:t>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/>
              <a:t>As </a:t>
            </a:r>
            <a:r>
              <a:rPr dirty="0" err="1"/>
              <a:t>etapas</a:t>
            </a:r>
            <a:r>
              <a:rPr dirty="0"/>
              <a:t> 3 a 5 do Supply Chain e Fábricas </a:t>
            </a:r>
            <a:r>
              <a:rPr dirty="0" err="1"/>
              <a:t>permanecem</a:t>
            </a:r>
            <a:r>
              <a:rPr dirty="0"/>
              <a:t> 100% </a:t>
            </a:r>
            <a:r>
              <a:rPr dirty="0" err="1"/>
              <a:t>inalteradas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1283</Words>
  <Application>Microsoft Office PowerPoint</Application>
  <PresentationFormat>Widescreen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1</cp:revision>
  <dcterms:created xsi:type="dcterms:W3CDTF">2013-01-27T09:14:16Z</dcterms:created>
  <dcterms:modified xsi:type="dcterms:W3CDTF">2026-10-20T00:23:19Z</dcterms:modified>
  <cp:category/>
</cp:coreProperties>
</file>
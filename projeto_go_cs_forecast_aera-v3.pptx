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9" autoAdjust="0"/>
  </p:normalViewPr>
  <p:slideViewPr>
    <p:cSldViewPr snapToGrid="0" snapToObjects="1">
      <p:cViewPr varScale="1">
        <p:scale>
          <a:sx n="80" d="100"/>
          <a:sy n="80" d="100"/>
        </p:scale>
        <p:origin x="5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do Projeto de Gestão de Operações e Cadeia de Suprimentos (GO e CS). Foco na automação das etapas 1 e 2 do forecast no AERA para eliminar distorções intencionais e reduzir perdas por Lost Sales e D&amp;O.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Detalhamento dos gargalos operacionais identificados no estudo do cenário farmacêutico. O lead time de 5 meses agrava o impacto de ajustes subjetivos no AERA, gerando descarte (D&amp;O) ou falta (Lost Sales).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ABE2-6A51-6E51-3A94-CD2D995D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A3060-B223-E74B-23E7-E43DD97A8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D8119-1301-34A9-1B20-CAF08D9F4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da imagem do fluxo AS-IS (as-is-v4.png) com detalhamento de cada uma das 5 etapas e destaque aos atritos na etapa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709AD-599C-915C-A3BC-F66813FF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721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do fluxo TO-BE (to-be-v1.png), com destaque para as modificações nas Etapas 1 e 2 e preservação total do fluxo logístico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Condições do Gate 0. Nenhuma etapa de configuração do AERA ou go-live pode iniciar sem aprovação formal e documentada dessas 5 dimensões por todas as diretorias envolvidas.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Plano de execução sequencial do Plano de Implantação v4, abrangendo desde a preparação de dados até a estabilização e apuração das métricas de sucesso.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Matriz de riscos e protocolo de contingência do projeto de implantação v4, garantindo resiliência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Otimização e Automação do Fluxo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/>
              </a:defRPr>
            </a:pPr>
            <a:r>
              <a:t>Redesenho do Processo de Demanda, Mapeamento AS-IS/TO-BE e Plano de Implantação</a:t>
            </a:r>
          </a:p>
          <a:p>
            <a:pPr>
              <a:defRPr sz="1300">
                <a:solidFill>
                  <a:srgbClr val="AABBCC"/>
                </a:solidFill>
                <a:latin typeface="Verdana"/>
              </a:defRPr>
            </a:pPr>
            <a:r>
              <a:t>Docentes: Prof. Dr. Alvair Silveira Torres Jr. &amp; Profa. Dra. Marisangela (2026)</a:t>
            </a:r>
            <a:br/>
            <a:r>
              <a:t>Indústria Farmacêutica — Unidade Brasil &amp; Operações Globais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t>GARGALO CRÍTICO 1</a:t>
            </a:r>
          </a:p>
          <a:p>
            <a:pPr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/>
              </a:defRPr>
            </a:pPr>
            <a:r>
              <a:t>5 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t>Lead Time Médio Global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t>• Transcurso entre o envio do forecast pelas sucursais locais e a chegada efetiva do medicamento ao operador logístico no Brasil.</a:t>
            </a:r>
            <a:br/>
            <a:r>
              <a:t>• Longa janela exige alta precisão do planejamento de vendas, tornando qualquer distorção altamente amplificada.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GARGALO CRÍTICO 2</a:t>
            </a:r>
          </a:p>
          <a:p>
            <a:pPr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Subjetividade</a:t>
            </a: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t>IMPACTOS NO NEGÓCIO</a:t>
            </a:r>
          </a:p>
          <a:p>
            <a:pPr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/>
              </a:defRPr>
            </a:pPr>
            <a: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t>Desperdício e Ruptura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t>• Lost Sales: Perda de receita direta por falta de produto frente à demanda real de mercado.</a:t>
            </a:r>
            <a:br/>
            <a:r>
              <a:t>• D&amp;O (Destruição &amp; Obsolescência): Prejuízo financeiro por descarte de medicamentos vencidos estocados em excesso.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2CCA-186D-D716-A883-5790787F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6B7C6-1ED8-DA2D-F501-E988D536926A}"/>
              </a:ext>
            </a:extLst>
          </p:cNvPr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C93F6-496E-870C-3F85-E164A6553429}"/>
              </a:ext>
            </a:extLst>
          </p:cNvPr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Mapeamento</a:t>
            </a:r>
            <a:r>
              <a:rPr dirty="0"/>
              <a:t> AS-IS </a:t>
            </a:r>
            <a:r>
              <a:rPr dirty="0" err="1"/>
              <a:t>Ilustra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Manual e </a:t>
            </a:r>
            <a:r>
              <a:rPr dirty="0" err="1"/>
              <a:t>os</a:t>
            </a:r>
            <a:r>
              <a:rPr dirty="0"/>
              <a:t> Pontos de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Interdepartamental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2C1AF-C8B2-53F6-6125-CB714554C6B3}"/>
              </a:ext>
            </a:extLst>
          </p:cNvPr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6497697-BAA2-DA04-B6C5-0D17E0CC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" y="1497023"/>
            <a:ext cx="9806688" cy="504093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DC52ED-3482-C78D-3F53-FF4B31363513}"/>
              </a:ext>
            </a:extLst>
          </p:cNvPr>
          <p:cNvSpPr/>
          <p:nvPr/>
        </p:nvSpPr>
        <p:spPr>
          <a:xfrm>
            <a:off x="10247044" y="1645920"/>
            <a:ext cx="1396011" cy="49412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Etapa 1 — Coleta Comercial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coleta a </a:t>
            </a:r>
            <a:r>
              <a:rPr sz="600" dirty="0" err="1"/>
              <a:t>expectativa</a:t>
            </a:r>
            <a:r>
              <a:rPr sz="600" dirty="0"/>
              <a:t> mensal de </a:t>
            </a:r>
            <a:r>
              <a:rPr sz="600" dirty="0" err="1"/>
              <a:t>vendas</a:t>
            </a:r>
            <a:r>
              <a:rPr sz="600" dirty="0"/>
              <a:t> com </a:t>
            </a:r>
            <a:r>
              <a:rPr sz="600" dirty="0" err="1"/>
              <a:t>Comercial</a:t>
            </a:r>
            <a:r>
              <a:rPr sz="600" dirty="0"/>
              <a:t> para </a:t>
            </a:r>
            <a:r>
              <a:rPr sz="600" dirty="0" err="1"/>
              <a:t>projeção</a:t>
            </a:r>
            <a:r>
              <a:rPr sz="600"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2 — </a:t>
            </a:r>
            <a:r>
              <a:rPr sz="800" dirty="0" err="1"/>
              <a:t>Ajustes</a:t>
            </a:r>
            <a:r>
              <a:rPr sz="800" dirty="0"/>
              <a:t> </a:t>
            </a:r>
            <a:r>
              <a:rPr sz="800" dirty="0" err="1"/>
              <a:t>Manuais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consolida</a:t>
            </a:r>
            <a:r>
              <a:rPr sz="600" dirty="0"/>
              <a:t> dados no AERA </a:t>
            </a:r>
            <a:r>
              <a:rPr sz="600" dirty="0" err="1"/>
              <a:t>aplicandogorduras</a:t>
            </a:r>
            <a:r>
              <a:rPr sz="600" dirty="0"/>
              <a:t> </a:t>
            </a:r>
            <a:r>
              <a:rPr sz="600" dirty="0" err="1"/>
              <a:t>ou</a:t>
            </a:r>
            <a:r>
              <a:rPr sz="600" dirty="0"/>
              <a:t> cortes </a:t>
            </a:r>
            <a:r>
              <a:rPr sz="600" dirty="0" err="1"/>
              <a:t>subjetivos</a:t>
            </a:r>
            <a:r>
              <a:rPr sz="600" dirty="0"/>
              <a:t> </a:t>
            </a:r>
            <a:r>
              <a:rPr sz="600" dirty="0" err="1"/>
              <a:t>sem</a:t>
            </a:r>
            <a:r>
              <a:rPr sz="600" dirty="0"/>
              <a:t> </a:t>
            </a:r>
            <a:r>
              <a:rPr sz="600" dirty="0" err="1"/>
              <a:t>registro</a:t>
            </a:r>
            <a:r>
              <a:rPr sz="600" dirty="0"/>
              <a:t> formal de </a:t>
            </a:r>
            <a:r>
              <a:rPr sz="600" dirty="0" err="1"/>
              <a:t>justificativa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3 — 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Supply Chain Local </a:t>
            </a:r>
            <a:r>
              <a:rPr sz="600" dirty="0" err="1"/>
              <a:t>consolida</a:t>
            </a:r>
            <a:r>
              <a:rPr sz="600" dirty="0"/>
              <a:t> e </a:t>
            </a:r>
            <a:r>
              <a:rPr sz="600" dirty="0" err="1"/>
              <a:t>compara</a:t>
            </a:r>
            <a:r>
              <a:rPr sz="600" dirty="0"/>
              <a:t> com o Plano </a:t>
            </a:r>
            <a:r>
              <a:rPr sz="600" dirty="0" err="1"/>
              <a:t>Financeiro</a:t>
            </a:r>
            <a:r>
              <a:rPr sz="600"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4 — </a:t>
            </a:r>
            <a:r>
              <a:rPr sz="800" dirty="0" err="1"/>
              <a:t>Produção</a:t>
            </a:r>
            <a:r>
              <a:rPr sz="800"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Fábricas </a:t>
            </a:r>
            <a:r>
              <a:rPr sz="600" dirty="0" err="1"/>
              <a:t>globais</a:t>
            </a:r>
            <a:r>
              <a:rPr sz="600" dirty="0"/>
              <a:t> </a:t>
            </a:r>
            <a:r>
              <a:rPr sz="600" dirty="0" err="1"/>
              <a:t>recebem</a:t>
            </a:r>
            <a:r>
              <a:rPr sz="600" dirty="0"/>
              <a:t> a </a:t>
            </a:r>
            <a:r>
              <a:rPr sz="600" dirty="0" err="1"/>
              <a:t>demanda</a:t>
            </a:r>
            <a:r>
              <a:rPr sz="600" dirty="0"/>
              <a:t> com lead time </a:t>
            </a:r>
            <a:r>
              <a:rPr sz="600" dirty="0" err="1"/>
              <a:t>médio</a:t>
            </a:r>
            <a:r>
              <a:rPr sz="600" dirty="0"/>
              <a:t> de 5 meses </a:t>
            </a:r>
            <a:r>
              <a:rPr sz="600" dirty="0" err="1"/>
              <a:t>até</a:t>
            </a:r>
            <a:r>
              <a:rPr sz="600" dirty="0"/>
              <a:t> a filial </a:t>
            </a:r>
            <a:r>
              <a:rPr sz="600" dirty="0" err="1"/>
              <a:t>Brasil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5 — </a:t>
            </a:r>
            <a:r>
              <a:rPr sz="800" dirty="0" err="1"/>
              <a:t>Logística</a:t>
            </a:r>
            <a:r>
              <a:rPr sz="800"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Transporte (</a:t>
            </a:r>
            <a:r>
              <a:rPr sz="600" dirty="0" err="1"/>
              <a:t>aéreo</a:t>
            </a:r>
            <a:r>
              <a:rPr sz="600" dirty="0"/>
              <a:t>/</a:t>
            </a:r>
            <a:r>
              <a:rPr sz="600" dirty="0" err="1"/>
              <a:t>marítimo</a:t>
            </a:r>
            <a:r>
              <a:rPr sz="600" dirty="0"/>
              <a:t>), </a:t>
            </a:r>
            <a:r>
              <a:rPr sz="600" dirty="0" err="1"/>
              <a:t>desembaraço</a:t>
            </a:r>
            <a:r>
              <a:rPr sz="600" dirty="0"/>
              <a:t>, </a:t>
            </a:r>
            <a:r>
              <a:rPr sz="600" dirty="0" err="1"/>
              <a:t>operador</a:t>
            </a:r>
            <a:r>
              <a:rPr sz="600" dirty="0"/>
              <a:t> </a:t>
            </a:r>
            <a:r>
              <a:rPr sz="600" dirty="0" err="1"/>
              <a:t>logístico</a:t>
            </a:r>
            <a:r>
              <a:rPr sz="600" dirty="0"/>
              <a:t> e </a:t>
            </a:r>
            <a:r>
              <a:rPr sz="600" dirty="0" err="1"/>
              <a:t>liberação</a:t>
            </a:r>
            <a:r>
              <a:rPr sz="600" dirty="0"/>
              <a:t> </a:t>
            </a:r>
            <a:r>
              <a:rPr sz="600" dirty="0" err="1"/>
              <a:t>comercial</a:t>
            </a:r>
            <a:r>
              <a:rPr sz="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6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Redesenho</a:t>
            </a:r>
            <a:r>
              <a:rPr dirty="0"/>
              <a:t> TO-BE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Exige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1B9A486-5BC8-EB80-4EDC-E7BA64D3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554481"/>
            <a:ext cx="9738360" cy="50182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287001" y="1554480"/>
            <a:ext cx="135605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Etapa 1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gera</a:t>
            </a:r>
            <a:r>
              <a:rPr sz="600" dirty="0"/>
              <a:t> </a:t>
            </a:r>
            <a:r>
              <a:rPr sz="600" dirty="0" err="1"/>
              <a:t>proposta</a:t>
            </a:r>
            <a:r>
              <a:rPr sz="600" dirty="0"/>
              <a:t> </a:t>
            </a:r>
            <a:r>
              <a:rPr sz="600" dirty="0" err="1"/>
              <a:t>inicial</a:t>
            </a:r>
            <a:r>
              <a:rPr sz="600" dirty="0"/>
              <a:t> </a:t>
            </a:r>
            <a:r>
              <a:rPr sz="600" dirty="0" err="1"/>
              <a:t>automática</a:t>
            </a:r>
            <a:r>
              <a:rPr sz="600" dirty="0"/>
              <a:t> a </a:t>
            </a:r>
            <a:r>
              <a:rPr sz="600" dirty="0" err="1"/>
              <a:t>partir</a:t>
            </a:r>
            <a:r>
              <a:rPr sz="600" dirty="0"/>
              <a:t> do Plano </a:t>
            </a:r>
            <a:r>
              <a:rPr sz="600" dirty="0" err="1"/>
              <a:t>Financeiro</a:t>
            </a:r>
            <a:r>
              <a:rPr sz="600" dirty="0"/>
              <a:t> </a:t>
            </a:r>
            <a:r>
              <a:rPr sz="600" dirty="0" err="1"/>
              <a:t>aprovado</a:t>
            </a:r>
            <a:r>
              <a:rPr sz="600" dirty="0"/>
              <a:t> </a:t>
            </a:r>
            <a:r>
              <a:rPr sz="600" dirty="0" err="1"/>
              <a:t>por</a:t>
            </a:r>
            <a:r>
              <a:rPr sz="600"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Etapa 2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avalia</a:t>
            </a:r>
            <a:r>
              <a:rPr sz="600" dirty="0"/>
              <a:t> e </a:t>
            </a:r>
            <a:r>
              <a:rPr sz="600" dirty="0" err="1"/>
              <a:t>submete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com valor, </a:t>
            </a:r>
            <a:r>
              <a:rPr sz="600" dirty="0" err="1"/>
              <a:t>justificativa</a:t>
            </a:r>
            <a:r>
              <a:rPr sz="600" dirty="0"/>
              <a:t> e </a:t>
            </a:r>
            <a:r>
              <a:rPr sz="600" dirty="0" err="1"/>
              <a:t>comentário</a:t>
            </a:r>
            <a:r>
              <a:rPr sz="600" dirty="0"/>
              <a:t> </a:t>
            </a:r>
            <a:r>
              <a:rPr sz="600" dirty="0" err="1"/>
              <a:t>obrigatórios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</a:t>
            </a:r>
            <a:r>
              <a:rPr sz="800" dirty="0" err="1"/>
              <a:t>Regra</a:t>
            </a:r>
            <a:r>
              <a:rPr sz="800" dirty="0"/>
              <a:t> de </a:t>
            </a:r>
            <a:r>
              <a:rPr sz="800" dirty="0" err="1"/>
              <a:t>Autorização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Ajuste</a:t>
            </a:r>
            <a:r>
              <a:rPr sz="600" dirty="0"/>
              <a:t> </a:t>
            </a:r>
            <a:r>
              <a:rPr sz="600" dirty="0" err="1"/>
              <a:t>só</a:t>
            </a:r>
            <a:r>
              <a:rPr sz="600" dirty="0"/>
              <a:t> é </a:t>
            </a:r>
            <a:r>
              <a:rPr sz="600" dirty="0" err="1"/>
              <a:t>autorizado</a:t>
            </a:r>
            <a:r>
              <a:rPr sz="600" dirty="0"/>
              <a:t> se superior </a:t>
            </a:r>
            <a:r>
              <a:rPr sz="600" dirty="0" err="1"/>
              <a:t>ao</a:t>
            </a:r>
            <a:r>
              <a:rPr sz="600" dirty="0"/>
              <a:t> </a:t>
            </a:r>
            <a:r>
              <a:rPr sz="600" dirty="0" err="1"/>
              <a:t>limite</a:t>
            </a:r>
            <a:r>
              <a:rPr sz="600" dirty="0"/>
              <a:t> </a:t>
            </a:r>
            <a:r>
              <a:rPr sz="600" dirty="0" err="1"/>
              <a:t>mínimo</a:t>
            </a:r>
            <a:r>
              <a:rPr sz="600" dirty="0"/>
              <a:t> </a:t>
            </a:r>
            <a:r>
              <a:rPr sz="600" dirty="0" err="1"/>
              <a:t>configurado</a:t>
            </a:r>
            <a:r>
              <a:rPr sz="600" dirty="0"/>
              <a:t> </a:t>
            </a:r>
            <a:r>
              <a:rPr sz="600" dirty="0" err="1"/>
              <a:t>pelo</a:t>
            </a:r>
            <a:r>
              <a:rPr sz="600"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retém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</a:t>
            </a:r>
            <a:r>
              <a:rPr sz="600" dirty="0" err="1"/>
              <a:t>aprovadas</a:t>
            </a:r>
            <a:r>
              <a:rPr sz="600" dirty="0"/>
              <a:t> e </a:t>
            </a:r>
            <a:r>
              <a:rPr sz="600" dirty="0" err="1"/>
              <a:t>negadas</a:t>
            </a:r>
            <a:r>
              <a:rPr sz="600" dirty="0"/>
              <a:t>, </a:t>
            </a:r>
            <a:r>
              <a:rPr sz="600" dirty="0" err="1"/>
              <a:t>usuário</a:t>
            </a:r>
            <a:r>
              <a:rPr sz="600" dirty="0"/>
              <a:t>, data/hora para </a:t>
            </a:r>
            <a:r>
              <a:rPr sz="600" dirty="0" err="1"/>
              <a:t>análise</a:t>
            </a:r>
            <a:r>
              <a:rPr sz="600" dirty="0"/>
              <a:t> de </a:t>
            </a:r>
            <a:r>
              <a:rPr sz="600" dirty="0" err="1"/>
              <a:t>risco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</a:t>
            </a:r>
            <a:r>
              <a:rPr sz="800" dirty="0" err="1"/>
              <a:t>Etapas</a:t>
            </a:r>
            <a:r>
              <a:rPr sz="800" dirty="0"/>
              <a:t> </a:t>
            </a:r>
            <a:r>
              <a:rPr sz="800" dirty="0" err="1"/>
              <a:t>Preservadas</a:t>
            </a:r>
            <a:r>
              <a:rPr sz="800"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Manutenção</a:t>
            </a:r>
            <a:r>
              <a:rPr sz="600" dirty="0"/>
              <a:t> integral do Sanity Check de Supply Chain Local, </a:t>
            </a:r>
            <a:r>
              <a:rPr sz="600" dirty="0" err="1"/>
              <a:t>fábrica</a:t>
            </a:r>
            <a:r>
              <a:rPr sz="600" dirty="0"/>
              <a:t> e </a:t>
            </a:r>
            <a:r>
              <a:rPr sz="600" dirty="0" err="1"/>
              <a:t>logística</a:t>
            </a:r>
            <a:r>
              <a:rPr sz="600"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20758"/>
              </p:ext>
            </p:extLst>
          </p:nvPr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1275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1</cp:revision>
  <dcterms:created xsi:type="dcterms:W3CDTF">2013-01-27T09:14:16Z</dcterms:created>
  <dcterms:modified xsi:type="dcterms:W3CDTF">2026-10-20T01:56:23Z</dcterms:modified>
  <cp:category/>
</cp:coreProperties>
</file>
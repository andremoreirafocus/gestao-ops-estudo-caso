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98" autoAdjust="0"/>
  </p:normalViewPr>
  <p:slideViewPr>
    <p:cSldViewPr snapToGrid="0" snapToObjects="1" showGuides="1">
      <p:cViewPr varScale="1">
        <p:scale>
          <a:sx n="86" d="100"/>
          <a:sy n="86" d="100"/>
        </p:scale>
        <p:origin x="3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</a:p>
          <a:p>
            <a:r>
              <a:rPr lang="pt-BR"/>
              <a:t>Bom dia. O nosso caso é o planejamento de demanda de uma indústria farmacêutica que opera no Brasil, mas depende de uma cadeia global para planejar, produzir, transportar, desembaraçar e disponibilizar os produtos para venda.</a:t>
            </a:r>
          </a:p>
          <a:p>
            <a:r>
              <a:rPr lang="pt-BR"/>
              <a:t>O problema estudado não é todo o processo de Supply Chain. O recorte está nas duas primeiras etapas do forecast no sistema AERA: a geração da previsão e o ajuste realizado por Marketing. É nesse ponto que uma decisão comercial se transforma em informação que orienta o abastecimento futuro.</a:t>
            </a:r>
          </a:p>
          <a:p>
            <a:r>
              <a:rPr lang="pt-BR"/>
              <a:t>A proposta mantém o conhecimento de Marketing sobre o mercado, mas muda a forma de registrá-lo e autorizá-lo. O AERA passa a gerar uma proposta inicial com base no plano financeiro por SKU; os ajustes passam a exigir justificativa, comentário e regra de autorização.</a:t>
            </a:r>
          </a:p>
          <a:p>
            <a:r>
              <a:rPr lang="pt-BR"/>
              <a:t>O objetivo é reduzir dois efeitos opostos de uma previsão inadequada: Lost Sales, quando falta produto para atender uma demanda real, e D&amp;O, quando há excesso e o produto vence antes de ser comercializado. As etapas posteriores de sanity check, fábricas e logística são preservadas.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</a:p>
          <a:p>
            <a:r>
              <a:rPr lang="pt-BR"/>
              <a:t>O primeiro elemento do problema é o lead time. O cenário informa uma média de cinco meses entre o envio do forecast pelas sucursais locais e a chegada efetiva do medicamento ao operador logístico no Brasil. Não se trata apenas de tempo de transporte: ele representa o intervalo em que a decisão de demanda já começou a orientar a cadeia, mas ainda não pode ser corrigida pela disponibilidade física do produto.</a:t>
            </a:r>
          </a:p>
          <a:p>
            <a:r>
              <a:rPr lang="pt-BR"/>
              <a:t>Esse prazo torna a qualidade da previsão especialmente relevante. Se o volume for superior à demanda que de fato se materializa, aumenta o risco de estoque sem giro e de vencimento. Se for inferior, a organização pode perder vendas porque o produto não estará disponível no momento em que o mercado o demanda.</a:t>
            </a:r>
          </a:p>
          <a:p>
            <a:r>
              <a:rPr lang="pt-BR"/>
              <a:t>O segundo elemento é a governança dos ajustes. Marketing tem informação valiosa sobre concorrência, eventos, bids e sinais de mercado. Ao mesmo tempo, Supply Chain precisa considerar estoque local e global, capacidade de produção e as consequências financeiras de um volume que não seja atendível ou que fique excessivo.</a:t>
            </a:r>
          </a:p>
          <a:p>
            <a:r>
              <a:rPr lang="pt-BR"/>
              <a:t>No estado atual, podem ocorrer gorduras ou cortes de volume sem justificativa formal, critério de autorização ou histórico de alterações. Portanto, o caso não afirma que Marketing seja a causa isolada da perda; ele mostra que o processo não torna visíveis os fundamentos, os responsáveis e os efeitos de cada ajuste.</a:t>
            </a:r>
          </a:p>
          <a:p>
            <a:r>
              <a:rPr lang="pt-BR"/>
              <a:t>Os dois impactos destacados no slide são complementares. Lost Sales é perda de receita por falta de produto. D&amp;O é a perda financeira associada ao descarte de produto vencido ou obsoleto. A melhoria precisa equilibrar os dois, e não otimizar apenas um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</a:p>
          <a:p>
            <a:r>
              <a:rPr lang="pt-BR"/>
              <a:t>Este é o mapa AS-IS. As caixas azuis à esquerda mostram as entradas que já existem no processo: expectativa de vendas do Comercial; dados internos e sinais de mercado; plano financeiro no SAP Analytics Cloud Planning; estoques local e global, capacidade de produção; e eventos extraordinários, como concorrência, surtos e bids.</a:t>
            </a:r>
          </a:p>
          <a:p>
            <a:r>
              <a:rPr lang="pt-BR"/>
              <a:t>Na etapa 1, Marketing e Comercial projetam mensalmente as vendas para um horizonte de 24 meses. Essa projeção alimenta a etapa 2, em que Marketing consolida e ajusta a previsão e a registra no AERA. O ponto de dor assinalado no diagrama está exatamente aqui: podem ser incluídas gorduras ou cortes de volume sem que o fluxo atual exija uma justificativa registrada.</a:t>
            </a:r>
          </a:p>
          <a:p>
            <a:r>
              <a:rPr lang="pt-BR"/>
              <a:t>O AERA consolida os forecasts. A partir daí, Supply Chain Local executa a etapa 3: faz o sanity check contra o histórico e o plano financeiro, verifica estoques e capacidade de produção e comunica restrições. O diagrama mostra que Marketing pode então alinhar essas restrições e assumir o risco de perdas antes que os volumes sejam enviados mensalmente ao Supply Chain Global.</a:t>
            </a:r>
          </a:p>
          <a:p>
            <a:r>
              <a:rPr lang="pt-BR"/>
              <a:t>Na etapa 4, Supply Chain Global e fábricas planejam o atendimento do forecast. As fábricas consultam estoques no SAP e produzem conforme o forecast; alterações de programação são comunicadas ao Supply Chain Local. Na etapa 5, a operação local define a logística, conduz o desembaraço e o operador logístico recebe o produto até ele ficar disponível para venda.</a:t>
            </a:r>
          </a:p>
          <a:p>
            <a:r>
              <a:rPr lang="pt-BR"/>
              <a:t>Os eventos extraordinários formam uma entrada paralela: Supply Chain Local e Global podem buscar alternativas para capturar oportunidade ou mitigar risco. Isso é importante porque o cenário reconhece que nem toda variação de demanda é previsível. Ainda assim, uma exceção precisa ser tratada com visibilidade dentro do processo.</a:t>
            </a:r>
          </a:p>
          <a:p>
            <a:r>
              <a:rPr lang="pt-BR"/>
              <a:t>À direita, o AS-IS reúne os resultados indesejados: perda de receita por falta de produto, produto vencido antes da venda e o lead time total de cinco meses. O cenário não localiza um gargalo operacional específico. O que ele informa é uma restrição de tempo que amplifica os efeitos dos ajustes feitos no início do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min.</a:t>
            </a:r>
          </a:p>
          <a:p>
            <a:r>
              <a:rPr lang="pt-BR"/>
              <a:t>Agora, o TO-BE. A leitura visual é simples: os elementos verdes são os que mudam; os cinza permanecem como no AS-IS. A mudança é concentrada nas etapas 1 e 2. O sanity check local, o planejamento global com fábricas, a logística e o recebimento não são redesenhados.</a:t>
            </a:r>
          </a:p>
          <a:p>
            <a:r>
              <a:rPr lang="pt-BR"/>
              <a:t>A primeira alteração é a origem da proposta de forecast. Em vez de começar com uma consolidação manual, o AERA gera o forecast inicial a partir do plano financeiro por SKU. Isso não elimina a visão de mercado; cria uma referência inicial única e identificável para a discussão de demanda.</a:t>
            </a:r>
          </a:p>
          <a:p>
            <a:r>
              <a:rPr lang="pt-BR"/>
              <a:t>Na segunda etapa, Marketing recebe essa proposta e a avalia à luz dos dados internos e sinais de mercado. Se houver motivo para alterar o volume, a solicitação é registrada no AERA como ajuste material, com justificativa e comentário. O diagrama separa a solicitação do ajuste de sua aprovação: pedir uma alteração não significa que ela já esteja incorporada ao forecast.</a:t>
            </a:r>
          </a:p>
          <a:p>
            <a:r>
              <a:rPr lang="pt-BR"/>
              <a:t>A regra de autorização é explícita. O Supply Chain Global define o limite mínimo; o AERA verifica se o valor do ajuste supera esse limite. Se a regra for atendida, o AERA registra o ajuste aprovado e consolida o forecast. Se não for atendida, o ajuste negado também é registrado, para que exista rastreabilidade e auditoria do que foi solicitado e da decisão tomada.</a:t>
            </a:r>
          </a:p>
          <a:p>
            <a:r>
              <a:rPr lang="pt-BR"/>
              <a:t>Essa distinção é relevante para evitar dois extremos. Sem qualquer regra, mudanças de volume podem entrar no forecast sem critério comum. Com uma regra sem registro, a organização pode perder o contexto comercial que justificava a solicitação. O TO-BE preserva o pedido e sua justificativa, mas distingue pedido, decisão e forecast consolidado.</a:t>
            </a:r>
          </a:p>
          <a:p>
            <a:r>
              <a:rPr lang="pt-BR"/>
              <a:t>Depois da consolidação, o fluxo volta a ser o mesmo: Supply Chain Local realiza o sanity check, checa estoques e capacidade, alinha restrições com Marketing e encaminha os volumes para o planejamento global. A saída adicional do AERA são métricas e análises de D&amp;O, Lost Sales, riscos e assertividade contra o plano financeiro. Assim, será possível acompanhar se a nova governança melhora de fato o resultado, e não apenas se os campos foram preenchidos.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</a:p>
          <a:p>
            <a:r>
              <a:rPr lang="pt-BR"/>
              <a:t>Antes de configurar o TO-BE, o plano estabelece um Gate 0 de governança. Ele não é uma nova etapa do fluxo de demanda; é a condição para iniciar a configuração e, principalmente, para impedir que uma automação seja construída sobre regras ainda indefinidas.</a:t>
            </a:r>
          </a:p>
          <a:p>
            <a:r>
              <a:rPr lang="pt-BR"/>
              <a:t>O primeiro pré-requisito é formalizar o limite mínimo de autorização de ajustes no valor do forecast por SKU. Não basta declarar que há um limite: é preciso definir o valor ou a lógica de cálculo, o responsável por sua definição e a forma de aplicá-lo às solicitações.</a:t>
            </a:r>
          </a:p>
          <a:p>
            <a:r>
              <a:rPr lang="pt-BR"/>
              <a:t>O segundo é a fonte financeira por SKU. O AERA precisa saber qual versão aprovada do plano financeiro no SAP Analytics Cloud Planning será usada, quem a publica e o que acontece quando algum dado necessário não estiver disponível. Sem essa definição, a proposta inicial automática pode partir de uma referência inconsistente.</a:t>
            </a:r>
          </a:p>
          <a:p>
            <a:r>
              <a:rPr lang="pt-BR"/>
              <a:t>O terceiro é o desenho dos controles no AERA: valor, justificativa e comentário obrigatórios; histórico de solicitações aprovadas e negadas; e matriz de perfis autorizados. Esses elementos permitem responder posteriormente quem solicitou, o que solicitou, quando, com qual fundamento e qual foi a decisão.</a:t>
            </a:r>
          </a:p>
          <a:p>
            <a:r>
              <a:rPr lang="pt-BR"/>
              <a:t>O quarto é a saída para a etapa 3. O forecast consolidado precisa ser comparável ao histórico e ao plano financeiro no sanity check. O exemplo de uma SKU com vendas históricas entre 1.000 e 1.200 e forecast de 25.000 não prova que a previsão esteja errada, mas mostra uma discrepância que exige investigação antes de orientar produção e abastecimento.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</a:p>
          <a:p>
            <a:r>
              <a:rPr lang="pt-BR"/>
              <a:t>O plano de execução traduz o TO-BE em seis fases sequenciais. A sequência importa porque a configuração não deve anteceder a validação dos dados, e o go-live não deve anteceder a simulação do processo completo.</a:t>
            </a:r>
          </a:p>
          <a:p>
            <a:r>
              <a:rPr lang="pt-BR"/>
              <a:t>Na fase 1, são preparados dados e ambiente: plano financeiro por SKU, histórico de vendas por SKU e validação das cargas. Na fase 2, o AERA é configurado com a automação do forecast inicial, o formulário de ajuste, a regra de limite e as funcionalidades de auditoria.</a:t>
            </a:r>
          </a:p>
          <a:p>
            <a:r>
              <a:rPr lang="pt-BR"/>
              <a:t>A fase 3 testa os controles de negócio que aparecem no TO-BE. O sistema deve bloquear ajuste sem justificativa; deve aplicar a regra de limite; e deve gerar relatório de alterações para auditoria. Aqui, o foco não é apenas testar se a tela funciona, mas se a regra de governança realmente é cumprida.</a:t>
            </a:r>
          </a:p>
          <a:p>
            <a:r>
              <a:rPr lang="pt-BR"/>
              <a:t>Na fase 4, é feita a simulação ponta a ponta: geração da proposta, solicitação de ajuste, decisão, consolidação e saída para o sanity check. O processo revisado precisa ser validado por Marketing, Supply Chain e Finanças porque cada área usa uma parte diferente da informação e responde por um risco diferente.</a:t>
            </a:r>
          </a:p>
          <a:p>
            <a:r>
              <a:rPr lang="pt-BR"/>
              <a:t>Na aprovação da simulação, vale conferir se o relatório permite reconstruir um caso completo: versão do plano financeiro de origem, usuário que solicitou o ajuste, justificativa, valor, decisão aplicada e forecast enviado ao sanity check.</a:t>
            </a:r>
          </a:p>
          <a:p>
            <a:r>
              <a:rPr lang="pt-BR"/>
              <a:t>As fases 5 e 6 tratam de treinamento, entrada em produção, estabilização e indicadores. O acompanhamento de D&amp;O, Lost Sales, nível de estoque e comparação com o baseline permite avaliar a eficácia. Se os indicadores não melhorarem, o histórico de ajustes fornece uma base concreta para investigar causas e aperfeiçoar a regra ou a qualidade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</a:p>
          <a:p>
            <a:r>
              <a:rPr lang="pt-BR"/>
              <a:t>Por fim, o plano reconhece que a implementação também tem riscos. O primeiro é a resistência à mudança. A prevenção é o alinhamento entre os stakeholders e a comunicação dos benefícios do novo processo; se a condição de superação não for atendida, o sponsor atua para remover as barreiras entre as áreas.</a:t>
            </a:r>
          </a:p>
          <a:p>
            <a:r>
              <a:rPr lang="pt-BR"/>
              <a:t>O segundo risco é o subdimensionamento da demanda quando o baseline financeiro for conservador. A resposta não é liberar ajustes sem controle. É manter o forecast financeiro e o de demanda alinhados e permitir que Marketing e Comercial apresentem uma expectativa realista e justificada para situações específicas.</a:t>
            </a:r>
          </a:p>
          <a:p>
            <a:r>
              <a:rPr lang="pt-BR"/>
              <a:t>A contingência protege a continuidade operacional. Se houver falha crítica antes da consolidação do forecast, o ciclo afetado retorna temporariamente ao fluxo legado das etapas 1 e 2. Os dados já registrados no AERA são preservados para auditoria e diagnóstico, e as etapas 3 a 5 permanecem inalteradas.</a:t>
            </a:r>
          </a:p>
          <a:p>
            <a:r>
              <a:rPr lang="pt-BR"/>
              <a:t>Em síntese, a proposta não retira o julgamento comercial do processo. Ela o transforma em uma informação justificada, registrada, autorizada conforme uma regra e analisável junto com os resultados de D&amp;O e Lost Sales. Obrigado;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3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 panose="02040502050405090303"/>
              </a:defRPr>
            </a:pPr>
            <a:r>
              <a:rPr dirty="0" err="1"/>
              <a:t>Otimização</a:t>
            </a:r>
            <a:r>
              <a:rPr dirty="0"/>
              <a:t> e </a:t>
            </a:r>
            <a:r>
              <a:rPr dirty="0" err="1"/>
              <a:t>Automação</a:t>
            </a:r>
            <a:r>
              <a:rPr dirty="0"/>
              <a:t> do </a:t>
            </a:r>
            <a:r>
              <a:rPr dirty="0" err="1"/>
              <a:t>Fluxo</a:t>
            </a:r>
            <a:r>
              <a:rPr dirty="0"/>
              <a:t>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 panose="020B0604030504040204"/>
              </a:defRPr>
            </a:pPr>
            <a:r>
              <a:rPr dirty="0" err="1"/>
              <a:t>Redesenho</a:t>
            </a:r>
            <a:r>
              <a:rPr dirty="0"/>
              <a:t> do </a:t>
            </a:r>
            <a:r>
              <a:rPr dirty="0" err="1"/>
              <a:t>Processo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, </a:t>
            </a:r>
            <a:r>
              <a:rPr dirty="0" err="1"/>
              <a:t>Mapeamento</a:t>
            </a:r>
            <a:r>
              <a:rPr dirty="0"/>
              <a:t> AS-IS/TO-BE e Plano de </a:t>
            </a:r>
            <a:r>
              <a:rPr dirty="0" err="1"/>
              <a:t>Implantação</a:t>
            </a:r>
            <a:endParaRPr dirty="0"/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dirty="0" err="1"/>
              <a:t>Docente</a:t>
            </a:r>
            <a:r>
              <a:rPr dirty="0"/>
              <a:t>: </a:t>
            </a:r>
            <a:r>
              <a:rPr dirty="0" err="1"/>
              <a:t>Profa</a:t>
            </a:r>
            <a:r>
              <a:rPr dirty="0"/>
              <a:t>. </a:t>
            </a:r>
            <a:r>
              <a:rPr lang="pt-BR" dirty="0" err="1"/>
              <a:t>Msc</a:t>
            </a:r>
            <a:r>
              <a:rPr dirty="0"/>
              <a:t> </a:t>
            </a:r>
            <a:r>
              <a:rPr dirty="0" err="1"/>
              <a:t>Marisangela</a:t>
            </a:r>
            <a:r>
              <a:rPr dirty="0"/>
              <a:t> </a:t>
            </a:r>
            <a:r>
              <a:rPr lang="pt-BR" dirty="0" err="1"/>
              <a:t>Csik</a:t>
            </a:r>
            <a:br>
              <a:rPr dirty="0"/>
            </a:br>
            <a:r>
              <a:rPr lang="pt-BR" dirty="0"/>
              <a:t>Case: </a:t>
            </a:r>
            <a:r>
              <a:rPr dirty="0"/>
              <a:t>Indústria </a:t>
            </a:r>
            <a:r>
              <a:rPr dirty="0" err="1"/>
              <a:t>Farmacêutica</a:t>
            </a:r>
            <a:r>
              <a:rPr dirty="0"/>
              <a:t> — </a:t>
            </a:r>
            <a:r>
              <a:rPr dirty="0" err="1"/>
              <a:t>Unidade</a:t>
            </a:r>
            <a:r>
              <a:rPr dirty="0"/>
              <a:t> </a:t>
            </a:r>
            <a:r>
              <a:rPr dirty="0" err="1"/>
              <a:t>Brasil</a:t>
            </a:r>
            <a:r>
              <a:rPr dirty="0"/>
              <a:t> &amp; </a:t>
            </a:r>
            <a:r>
              <a:rPr dirty="0" err="1"/>
              <a:t>Operações</a:t>
            </a:r>
            <a:r>
              <a:rPr dirty="0"/>
              <a:t> </a:t>
            </a:r>
            <a:r>
              <a:rPr dirty="0" err="1"/>
              <a:t>Globais</a:t>
            </a:r>
            <a:endParaRPr dirty="0"/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endParaRPr dirty="0"/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endParaRPr dirty="0"/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lang="pt-BR" dirty="0"/>
              <a:t>Grupo 8:</a:t>
            </a:r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lang="en-US" altLang="en-US" dirty="0"/>
              <a:t>André Luiz da Cruz Moreira</a:t>
            </a:r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lang="en-US" altLang="en-US" dirty="0"/>
              <a:t>Lucas Silva do Carmo</a:t>
            </a:r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lang="en-US" altLang="en-US" dirty="0"/>
              <a:t>Rafael</a:t>
            </a:r>
            <a:r>
              <a:rPr lang="pt-BR" altLang="en-US" dirty="0"/>
              <a:t> </a:t>
            </a:r>
            <a:r>
              <a:rPr lang="en-US" altLang="en-US" dirty="0" err="1"/>
              <a:t>Eiti</a:t>
            </a:r>
            <a:r>
              <a:rPr lang="en-US" altLang="en-US" dirty="0"/>
              <a:t> Tanaka</a:t>
            </a:r>
          </a:p>
          <a:p>
            <a:pPr>
              <a:defRPr sz="1300">
                <a:solidFill>
                  <a:srgbClr val="AABBCC"/>
                </a:solidFill>
                <a:latin typeface="Verdana" panose="020B0604030504040204"/>
              </a:defRPr>
            </a:pPr>
            <a:r>
              <a:rPr lang="en-US" altLang="en-US" dirty="0"/>
              <a:t>Rômulo Pedro Arrivabene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GARGALO CRÍTICO 1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/>
              <a:t> </a:t>
            </a:r>
            <a:r>
              <a:rPr lang="pt-BR" dirty="0">
                <a:latin typeface="+mj-lt"/>
              </a:rPr>
              <a:t>5 </a:t>
            </a:r>
            <a:r>
              <a:rPr dirty="0">
                <a:latin typeface="+mj-lt"/>
              </a:rPr>
              <a:t>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Lead Time </a:t>
            </a:r>
            <a:r>
              <a:rPr dirty="0" err="1"/>
              <a:t>Médio</a:t>
            </a:r>
            <a:r>
              <a:rPr dirty="0"/>
              <a:t> Global</a:t>
            </a:r>
          </a:p>
          <a:p>
            <a:pPr>
              <a:defRPr sz="120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dirty="0" err="1"/>
              <a:t>Transcurso</a:t>
            </a:r>
            <a:r>
              <a:rPr dirty="0"/>
              <a:t> entre o </a:t>
            </a:r>
            <a:r>
              <a:rPr dirty="0" err="1"/>
              <a:t>envio</a:t>
            </a:r>
            <a:r>
              <a:rPr dirty="0"/>
              <a:t> do forecast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sucursais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 e a </a:t>
            </a:r>
            <a:r>
              <a:rPr dirty="0" err="1"/>
              <a:t>chegada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do </a:t>
            </a:r>
            <a:r>
              <a:rPr dirty="0" err="1"/>
              <a:t>medicamento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logístico</a:t>
            </a:r>
            <a:r>
              <a:rPr dirty="0"/>
              <a:t> no </a:t>
            </a:r>
            <a:r>
              <a:rPr dirty="0" err="1"/>
              <a:t>Brasil</a:t>
            </a:r>
            <a:r>
              <a:rPr dirty="0"/>
              <a:t>.</a:t>
            </a:r>
            <a:br>
              <a:rPr dirty="0"/>
            </a:br>
            <a:r>
              <a:rPr dirty="0"/>
              <a:t>• Longa </a:t>
            </a:r>
            <a:r>
              <a:rPr dirty="0" err="1"/>
              <a:t>janela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 do </a:t>
            </a:r>
            <a:r>
              <a:rPr dirty="0" err="1"/>
              <a:t>planejamento</a:t>
            </a:r>
            <a:r>
              <a:rPr dirty="0"/>
              <a:t> de </a:t>
            </a:r>
            <a:r>
              <a:rPr dirty="0" err="1"/>
              <a:t>vendas</a:t>
            </a:r>
            <a:r>
              <a:rPr dirty="0"/>
              <a:t>, </a:t>
            </a:r>
            <a:r>
              <a:rPr dirty="0" err="1"/>
              <a:t>tornando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distorção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amplificada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 panose="020B0604030504040204"/>
              </a:defRPr>
            </a:pPr>
            <a:r>
              <a:rPr dirty="0"/>
              <a:t>GARGALO CRÍTICO 2</a:t>
            </a:r>
          </a:p>
          <a:p>
            <a:pPr algn="ctr"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 err="1">
                <a:latin typeface="+mj-lt"/>
              </a:rPr>
              <a:t>Subjetividade</a:t>
            </a:r>
            <a:endParaRPr dirty="0">
              <a:latin typeface="+mj-lt"/>
            </a:endParaRP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 panose="020B0604030504040204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IMPACTOS NO NEGÓCIO</a:t>
            </a:r>
          </a:p>
          <a:p>
            <a:pPr algn="ctr"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>
                <a:latin typeface="+mj-lt"/>
              </a:rP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 panose="020B0604030504040204"/>
              </a:defRPr>
            </a:pPr>
            <a:r>
              <a:rPr dirty="0" err="1"/>
              <a:t>Desperdício</a:t>
            </a:r>
            <a:r>
              <a:rPr dirty="0"/>
              <a:t> e </a:t>
            </a:r>
            <a:r>
              <a:rPr dirty="0" err="1"/>
              <a:t>Ruptura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/>
              <a:t>• Lost Sales: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à </a:t>
            </a:r>
            <a:r>
              <a:rPr dirty="0" err="1"/>
              <a:t>demanda</a:t>
            </a:r>
            <a:r>
              <a:rPr dirty="0"/>
              <a:t> real de mercado.</a:t>
            </a:r>
            <a:br>
              <a:rPr dirty="0"/>
            </a:br>
            <a:r>
              <a:rPr dirty="0"/>
              <a:t>• D&amp;O (</a:t>
            </a:r>
            <a:r>
              <a:rPr dirty="0" err="1"/>
              <a:t>Destruição</a:t>
            </a:r>
            <a:r>
              <a:rPr dirty="0"/>
              <a:t> &amp; </a:t>
            </a:r>
            <a:r>
              <a:rPr dirty="0" err="1"/>
              <a:t>Obsolescência</a:t>
            </a:r>
            <a:r>
              <a:rPr dirty="0"/>
              <a:t>): </a:t>
            </a:r>
            <a:r>
              <a:rPr dirty="0" err="1"/>
              <a:t>Prejuízo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descarte</a:t>
            </a:r>
            <a:r>
              <a:rPr dirty="0"/>
              <a:t> de </a:t>
            </a:r>
            <a:r>
              <a:rPr dirty="0" err="1"/>
              <a:t>medicamentos</a:t>
            </a:r>
            <a:r>
              <a:rPr dirty="0"/>
              <a:t> </a:t>
            </a:r>
            <a:r>
              <a:rPr dirty="0" err="1"/>
              <a:t>vencidos</a:t>
            </a:r>
            <a:r>
              <a:rPr dirty="0"/>
              <a:t> </a:t>
            </a:r>
            <a:r>
              <a:rPr dirty="0" err="1"/>
              <a:t>estocados</a:t>
            </a:r>
            <a:r>
              <a:rPr dirty="0"/>
              <a:t> em </a:t>
            </a:r>
            <a:r>
              <a:rPr dirty="0" err="1"/>
              <a:t>excesso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93020" y="1590164"/>
            <a:ext cx="1544955" cy="50174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 Etapa 1 — 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Marketing coleta a </a:t>
            </a:r>
            <a:r>
              <a:rPr sz="800" dirty="0" err="1"/>
              <a:t>expectativa</a:t>
            </a:r>
            <a:r>
              <a:rPr sz="800" dirty="0"/>
              <a:t> mensal de </a:t>
            </a:r>
            <a:r>
              <a:rPr sz="800" dirty="0" err="1"/>
              <a:t>vendas</a:t>
            </a:r>
            <a:r>
              <a:rPr sz="800" dirty="0"/>
              <a:t> com </a:t>
            </a:r>
            <a:r>
              <a:rPr sz="800" dirty="0" err="1"/>
              <a:t>Comercial</a:t>
            </a:r>
            <a:r>
              <a:rPr sz="800" dirty="0"/>
              <a:t> para </a:t>
            </a:r>
            <a:r>
              <a:rPr sz="800" dirty="0" err="1"/>
              <a:t>projeção</a:t>
            </a:r>
            <a:r>
              <a:rPr sz="8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/>
              <a:t>• Etapa 2 — 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 err="1"/>
              <a:t>Ajustes</a:t>
            </a:r>
            <a:r>
              <a:rPr sz="1000" dirty="0"/>
              <a:t> </a:t>
            </a:r>
            <a:r>
              <a:rPr sz="1000" dirty="0" err="1"/>
              <a:t>Manuais</a:t>
            </a:r>
            <a:endParaRPr sz="10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Marketing </a:t>
            </a:r>
            <a:r>
              <a:rPr sz="800" dirty="0" err="1"/>
              <a:t>consolida</a:t>
            </a:r>
            <a:r>
              <a:rPr sz="800" dirty="0"/>
              <a:t> dados no AERA </a:t>
            </a:r>
            <a:r>
              <a:rPr sz="800" dirty="0" err="1"/>
              <a:t>aplicandogorduras</a:t>
            </a:r>
            <a:r>
              <a:rPr sz="800" dirty="0"/>
              <a:t> </a:t>
            </a:r>
            <a:r>
              <a:rPr sz="800" dirty="0" err="1"/>
              <a:t>ou</a:t>
            </a:r>
            <a:r>
              <a:rPr sz="800" dirty="0"/>
              <a:t> cortes </a:t>
            </a:r>
            <a:r>
              <a:rPr sz="800" dirty="0" err="1"/>
              <a:t>subjetivos</a:t>
            </a:r>
            <a:r>
              <a:rPr sz="800" dirty="0"/>
              <a:t> </a:t>
            </a:r>
            <a:r>
              <a:rPr sz="800" dirty="0" err="1"/>
              <a:t>sem</a:t>
            </a:r>
            <a:r>
              <a:rPr sz="800" dirty="0"/>
              <a:t> </a:t>
            </a:r>
            <a:r>
              <a:rPr sz="800" dirty="0" err="1"/>
              <a:t>registro</a:t>
            </a:r>
            <a:r>
              <a:rPr sz="800" dirty="0"/>
              <a:t> formal de </a:t>
            </a:r>
            <a:r>
              <a:rPr sz="800" dirty="0" err="1"/>
              <a:t>justificativa</a:t>
            </a:r>
            <a:r>
              <a:rPr sz="8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/>
              <a:t>• Etapa 3 — 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/>
              <a:t>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Supply Chain Local </a:t>
            </a:r>
            <a:r>
              <a:rPr sz="800" dirty="0" err="1"/>
              <a:t>consolida</a:t>
            </a:r>
            <a:r>
              <a:rPr sz="800" dirty="0"/>
              <a:t> e </a:t>
            </a:r>
            <a:r>
              <a:rPr sz="800" dirty="0" err="1"/>
              <a:t>compara</a:t>
            </a:r>
            <a:r>
              <a:rPr sz="800" dirty="0"/>
              <a:t> com o Plano </a:t>
            </a:r>
            <a:r>
              <a:rPr sz="800" dirty="0" err="1"/>
              <a:t>Financeiro</a:t>
            </a:r>
            <a:r>
              <a:rPr sz="8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/>
              <a:t>• Etapa 4 — </a:t>
            </a:r>
            <a:r>
              <a:rPr sz="1000" dirty="0" err="1"/>
              <a:t>Produção</a:t>
            </a:r>
            <a:r>
              <a:rPr sz="10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Fábricas </a:t>
            </a:r>
            <a:r>
              <a:rPr sz="800" dirty="0" err="1"/>
              <a:t>globais</a:t>
            </a:r>
            <a:r>
              <a:rPr sz="800" dirty="0"/>
              <a:t> </a:t>
            </a:r>
            <a:r>
              <a:rPr sz="800" dirty="0" err="1"/>
              <a:t>recebem</a:t>
            </a:r>
            <a:r>
              <a:rPr sz="800" dirty="0"/>
              <a:t> a </a:t>
            </a:r>
            <a:r>
              <a:rPr sz="800" dirty="0" err="1"/>
              <a:t>demanda</a:t>
            </a:r>
            <a:r>
              <a:rPr sz="800" dirty="0"/>
              <a:t> com lead time </a:t>
            </a:r>
            <a:r>
              <a:rPr sz="800" dirty="0" err="1"/>
              <a:t>médio</a:t>
            </a:r>
            <a:r>
              <a:rPr sz="800" dirty="0"/>
              <a:t> de 5 meses </a:t>
            </a:r>
            <a:r>
              <a:rPr sz="800" dirty="0" err="1"/>
              <a:t>até</a:t>
            </a:r>
            <a:r>
              <a:rPr sz="800" dirty="0"/>
              <a:t> a filial </a:t>
            </a:r>
            <a:r>
              <a:rPr sz="800" dirty="0" err="1"/>
              <a:t>Brasil</a:t>
            </a:r>
            <a:r>
              <a:rPr sz="8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/>
              <a:t>• Etapa 5 — 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sz="1000" dirty="0" err="1"/>
              <a:t>Logística</a:t>
            </a:r>
            <a:r>
              <a:rPr sz="10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Transporte (</a:t>
            </a:r>
            <a:r>
              <a:rPr sz="800" dirty="0" err="1"/>
              <a:t>aéreo</a:t>
            </a:r>
            <a:r>
              <a:rPr sz="800" dirty="0"/>
              <a:t>/</a:t>
            </a:r>
            <a:r>
              <a:rPr sz="800" dirty="0" err="1"/>
              <a:t>marítimo</a:t>
            </a:r>
            <a:r>
              <a:rPr sz="800" dirty="0"/>
              <a:t>), </a:t>
            </a:r>
            <a:r>
              <a:rPr sz="800" dirty="0" err="1"/>
              <a:t>desembaraço</a:t>
            </a:r>
            <a:r>
              <a:rPr sz="800" dirty="0"/>
              <a:t>, </a:t>
            </a:r>
            <a:r>
              <a:rPr sz="800" dirty="0" err="1"/>
              <a:t>operador</a:t>
            </a:r>
            <a:r>
              <a:rPr sz="800" dirty="0"/>
              <a:t> </a:t>
            </a:r>
            <a:r>
              <a:rPr sz="800" dirty="0" err="1"/>
              <a:t>logístico</a:t>
            </a:r>
            <a:r>
              <a:rPr sz="800" dirty="0"/>
              <a:t> e </a:t>
            </a:r>
            <a:r>
              <a:rPr sz="800" dirty="0" err="1"/>
              <a:t>liberação</a:t>
            </a:r>
            <a:r>
              <a:rPr sz="800" dirty="0"/>
              <a:t> </a:t>
            </a:r>
            <a:r>
              <a:rPr sz="800" dirty="0" err="1"/>
              <a:t>comercial</a:t>
            </a:r>
            <a:r>
              <a:rPr sz="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587818" cy="49406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75490" y="1554480"/>
            <a:ext cx="154444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 </a:t>
            </a:r>
            <a:r>
              <a:rPr sz="1000" dirty="0"/>
              <a:t>Etapa 1 (</a:t>
            </a:r>
            <a:r>
              <a:rPr sz="1000" dirty="0" err="1"/>
              <a:t>Redesenhada</a:t>
            </a:r>
            <a:r>
              <a:rPr sz="10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AERA </a:t>
            </a:r>
            <a:r>
              <a:rPr sz="800" dirty="0" err="1"/>
              <a:t>gera</a:t>
            </a:r>
            <a:r>
              <a:rPr sz="800" dirty="0"/>
              <a:t> </a:t>
            </a:r>
            <a:r>
              <a:rPr sz="800" dirty="0" err="1"/>
              <a:t>proposta</a:t>
            </a:r>
            <a:r>
              <a:rPr sz="800" dirty="0"/>
              <a:t> </a:t>
            </a:r>
            <a:r>
              <a:rPr sz="800" dirty="0" err="1"/>
              <a:t>inicial</a:t>
            </a:r>
            <a:r>
              <a:rPr sz="800" dirty="0"/>
              <a:t> </a:t>
            </a:r>
            <a:r>
              <a:rPr sz="800" dirty="0" err="1"/>
              <a:t>automática</a:t>
            </a:r>
            <a:r>
              <a:rPr sz="800" dirty="0"/>
              <a:t> a </a:t>
            </a:r>
            <a:r>
              <a:rPr sz="800" dirty="0" err="1"/>
              <a:t>partir</a:t>
            </a:r>
            <a:r>
              <a:rPr sz="800" dirty="0"/>
              <a:t> do Plano </a:t>
            </a:r>
            <a:r>
              <a:rPr sz="800" dirty="0" err="1"/>
              <a:t>Financeiro</a:t>
            </a:r>
            <a:r>
              <a:rPr sz="800" dirty="0"/>
              <a:t> </a:t>
            </a:r>
            <a:r>
              <a:rPr sz="800" dirty="0" err="1"/>
              <a:t>aprovado</a:t>
            </a:r>
            <a:r>
              <a:rPr sz="800" dirty="0"/>
              <a:t> </a:t>
            </a:r>
            <a:r>
              <a:rPr sz="800" dirty="0" err="1"/>
              <a:t>por</a:t>
            </a:r>
            <a:r>
              <a:rPr sz="8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</a:t>
            </a:r>
            <a:r>
              <a:rPr sz="1000" dirty="0"/>
              <a:t> Etapa 2 (</a:t>
            </a:r>
            <a:r>
              <a:rPr sz="1000" dirty="0" err="1"/>
              <a:t>Redesenhada</a:t>
            </a:r>
            <a:r>
              <a:rPr sz="10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Marketing </a:t>
            </a:r>
            <a:r>
              <a:rPr sz="800" dirty="0" err="1"/>
              <a:t>avalia</a:t>
            </a:r>
            <a:r>
              <a:rPr sz="800" dirty="0"/>
              <a:t> e </a:t>
            </a:r>
            <a:r>
              <a:rPr sz="800" dirty="0" err="1"/>
              <a:t>submete</a:t>
            </a:r>
            <a:r>
              <a:rPr sz="800" dirty="0"/>
              <a:t> </a:t>
            </a:r>
            <a:r>
              <a:rPr sz="800" dirty="0" err="1"/>
              <a:t>solicitações</a:t>
            </a:r>
            <a:r>
              <a:rPr sz="800" dirty="0"/>
              <a:t> com valor, </a:t>
            </a:r>
            <a:r>
              <a:rPr sz="800" dirty="0" err="1"/>
              <a:t>justificativa</a:t>
            </a:r>
            <a:r>
              <a:rPr sz="800" dirty="0"/>
              <a:t> e </a:t>
            </a:r>
            <a:r>
              <a:rPr sz="800" dirty="0" err="1"/>
              <a:t>comentário</a:t>
            </a:r>
            <a:r>
              <a:rPr sz="800" dirty="0"/>
              <a:t> </a:t>
            </a:r>
            <a:r>
              <a:rPr sz="800" dirty="0" err="1"/>
              <a:t>obrigatórios</a:t>
            </a:r>
            <a:r>
              <a:rPr sz="8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</a:t>
            </a:r>
            <a:r>
              <a:rPr sz="1000" dirty="0"/>
              <a:t> </a:t>
            </a:r>
            <a:r>
              <a:rPr sz="1000" dirty="0" err="1"/>
              <a:t>Regra</a:t>
            </a:r>
            <a:r>
              <a:rPr sz="1000" dirty="0"/>
              <a:t> de </a:t>
            </a:r>
            <a:r>
              <a:rPr sz="1000" dirty="0" err="1"/>
              <a:t>Autorização</a:t>
            </a:r>
            <a:endParaRPr sz="10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 err="1"/>
              <a:t>Ajuste</a:t>
            </a:r>
            <a:r>
              <a:rPr sz="800" dirty="0"/>
              <a:t> </a:t>
            </a:r>
            <a:r>
              <a:rPr sz="800" dirty="0" err="1"/>
              <a:t>só</a:t>
            </a:r>
            <a:r>
              <a:rPr sz="800" dirty="0"/>
              <a:t> é </a:t>
            </a:r>
            <a:r>
              <a:rPr sz="800" dirty="0" err="1"/>
              <a:t>autorizado</a:t>
            </a:r>
            <a:r>
              <a:rPr sz="800" dirty="0"/>
              <a:t> se superior </a:t>
            </a:r>
            <a:r>
              <a:rPr sz="800" dirty="0" err="1"/>
              <a:t>ao</a:t>
            </a:r>
            <a:r>
              <a:rPr sz="800" dirty="0"/>
              <a:t> </a:t>
            </a:r>
            <a:r>
              <a:rPr sz="800" dirty="0" err="1"/>
              <a:t>limite</a:t>
            </a:r>
            <a:r>
              <a:rPr sz="800" dirty="0"/>
              <a:t> </a:t>
            </a:r>
            <a:r>
              <a:rPr sz="800" dirty="0" err="1"/>
              <a:t>mínimo</a:t>
            </a:r>
            <a:r>
              <a:rPr sz="800" dirty="0"/>
              <a:t> </a:t>
            </a:r>
            <a:r>
              <a:rPr sz="800" dirty="0" err="1"/>
              <a:t>configurado</a:t>
            </a:r>
            <a:r>
              <a:rPr sz="800" dirty="0"/>
              <a:t> </a:t>
            </a:r>
            <a:r>
              <a:rPr sz="800" dirty="0" err="1"/>
              <a:t>pelo</a:t>
            </a:r>
            <a:r>
              <a:rPr sz="8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</a:t>
            </a:r>
            <a:r>
              <a:rPr sz="1000" dirty="0"/>
              <a:t>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/>
              <a:t>AERA </a:t>
            </a:r>
            <a:r>
              <a:rPr sz="800" dirty="0" err="1"/>
              <a:t>retém</a:t>
            </a:r>
            <a:r>
              <a:rPr sz="800" dirty="0"/>
              <a:t> </a:t>
            </a:r>
            <a:r>
              <a:rPr sz="800" dirty="0" err="1"/>
              <a:t>solicitações</a:t>
            </a:r>
            <a:r>
              <a:rPr sz="800" dirty="0"/>
              <a:t> </a:t>
            </a:r>
            <a:r>
              <a:rPr sz="800" dirty="0" err="1"/>
              <a:t>aprovadas</a:t>
            </a:r>
            <a:r>
              <a:rPr sz="800" dirty="0"/>
              <a:t> e </a:t>
            </a:r>
            <a:r>
              <a:rPr sz="800" dirty="0" err="1"/>
              <a:t>negadas</a:t>
            </a:r>
            <a:r>
              <a:rPr sz="800" dirty="0"/>
              <a:t>, </a:t>
            </a:r>
            <a:r>
              <a:rPr sz="800" dirty="0" err="1"/>
              <a:t>usuário</a:t>
            </a:r>
            <a:r>
              <a:rPr sz="800" dirty="0"/>
              <a:t>, data/hora para </a:t>
            </a:r>
            <a:r>
              <a:rPr sz="800" dirty="0" err="1"/>
              <a:t>análise</a:t>
            </a:r>
            <a:r>
              <a:rPr sz="800" dirty="0"/>
              <a:t> de </a:t>
            </a:r>
            <a:r>
              <a:rPr sz="800" dirty="0" err="1"/>
              <a:t>risco</a:t>
            </a:r>
            <a:r>
              <a:rPr sz="8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 panose="020B0604030504040204"/>
              </a:defRPr>
            </a:pPr>
            <a:r>
              <a:rPr lang="pt-BR" sz="1000" dirty="0"/>
              <a:t>•</a:t>
            </a:r>
            <a:r>
              <a:rPr sz="1000" dirty="0"/>
              <a:t> </a:t>
            </a:r>
            <a:r>
              <a:rPr sz="1000" dirty="0" err="1"/>
              <a:t>Etapas</a:t>
            </a:r>
            <a:r>
              <a:rPr sz="1000" dirty="0"/>
              <a:t> </a:t>
            </a:r>
            <a:r>
              <a:rPr sz="1000" dirty="0" err="1"/>
              <a:t>Preservadas</a:t>
            </a:r>
            <a:r>
              <a:rPr sz="10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 panose="020B0604030504040204"/>
              </a:defRPr>
            </a:pPr>
            <a:r>
              <a:rPr sz="800" dirty="0" err="1"/>
              <a:t>Manutenção</a:t>
            </a:r>
            <a:r>
              <a:rPr sz="800" dirty="0"/>
              <a:t> integral do Sanity Check de Supply Chain Local, </a:t>
            </a:r>
            <a:r>
              <a:rPr sz="800" dirty="0" err="1"/>
              <a:t>fábrica</a:t>
            </a:r>
            <a:r>
              <a:rPr sz="800" dirty="0"/>
              <a:t> e </a:t>
            </a:r>
            <a:r>
              <a:rPr sz="800" dirty="0" err="1"/>
              <a:t>logística</a:t>
            </a:r>
            <a:r>
              <a:rPr sz="8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 panose="020B0604030504040204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 panose="020B0604030504040204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 panose="020B0604030504040204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 panose="020B0604030504040204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 panose="020B0604030504040204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 panose="020B0604030504040204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 panose="020B0604030504040204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 panose="020B0604030504040204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 panose="020B0604030504040204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 panose="02040502050405090303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 panose="020B0604030504040204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 panose="020B0604030504040204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 panose="020B0604030504040204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 panose="020B0604030504040204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 panose="020B0604030504040204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 panose="020B0604030504040204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 panose="020B0604030504040204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 panose="020B0604030504040204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3204</Words>
  <Application>Microsoft Office PowerPoint</Application>
  <PresentationFormat>Widescreen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André Moreira</cp:lastModifiedBy>
  <cp:revision>4</cp:revision>
  <dcterms:created xsi:type="dcterms:W3CDTF">2026-10-21T21:49:21Z</dcterms:created>
  <dcterms:modified xsi:type="dcterms:W3CDTF">2026-10-22T18:10:52Z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EC67E80098DDB16F6133D96A5F26FF81_43</vt:lpwstr>
  </property>
  <property fmtid="{D5CDD505-2E9C-101B-9397-08002B2CF9AE}" pid="3" name="KSOProductBuildVer">
    <vt:lpwstr>1033-12.1.28496.28496</vt:lpwstr>
  </property>
</Properties>
</file>
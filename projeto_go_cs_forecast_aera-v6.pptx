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B4E52-06FF-4AE8-A66C-8BB5D5CE6B02}" v="5" dt="2026-10-21T21:10:57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98" autoAdjust="0"/>
  </p:normalViewPr>
  <p:slideViewPr>
    <p:cSldViewPr snapToGrid="0" snapToObjects="1">
      <p:cViewPr varScale="1">
        <p:scale>
          <a:sx n="86" d="100"/>
          <a:sy n="86" d="100"/>
        </p:scale>
        <p:origin x="30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Moreira" userId="a074d5cff11e4feb" providerId="LiveId" clId="{A3AE0FC4-E642-4DAF-99C2-2E02E3CB77AA}"/>
    <pc:docChg chg="undo custSel modSld">
      <pc:chgData name="André Moreira" userId="a074d5cff11e4feb" providerId="LiveId" clId="{A3AE0FC4-E642-4DAF-99C2-2E02E3CB77AA}" dt="2026-10-21T21:13:13.546" v="37" actId="122"/>
      <pc:docMkLst>
        <pc:docMk/>
      </pc:docMkLst>
      <pc:sldChg chg="modSp mod">
        <pc:chgData name="André Moreira" userId="a074d5cff11e4feb" providerId="LiveId" clId="{A3AE0FC4-E642-4DAF-99C2-2E02E3CB77AA}" dt="2026-10-21T21:13:13.546" v="37" actId="122"/>
        <pc:sldMkLst>
          <pc:docMk/>
          <pc:sldMk cId="0" sldId="257"/>
        </pc:sldMkLst>
        <pc:spChg chg="mod">
          <ac:chgData name="André Moreira" userId="a074d5cff11e4feb" providerId="LiveId" clId="{A3AE0FC4-E642-4DAF-99C2-2E02E3CB77AA}" dt="2026-10-21T21:13:05.933" v="35" actId="122"/>
          <ac:spMkLst>
            <pc:docMk/>
            <pc:sldMk cId="0" sldId="257"/>
            <ac:spMk id="5" creationId="{00000000-0000-0000-0000-000000000000}"/>
          </ac:spMkLst>
        </pc:spChg>
        <pc:spChg chg="mod">
          <ac:chgData name="André Moreira" userId="a074d5cff11e4feb" providerId="LiveId" clId="{A3AE0FC4-E642-4DAF-99C2-2E02E3CB77AA}" dt="2026-10-21T21:13:11.110" v="36" actId="122"/>
          <ac:spMkLst>
            <pc:docMk/>
            <pc:sldMk cId="0" sldId="257"/>
            <ac:spMk id="6" creationId="{00000000-0000-0000-0000-000000000000}"/>
          </ac:spMkLst>
        </pc:spChg>
        <pc:spChg chg="mod">
          <ac:chgData name="André Moreira" userId="a074d5cff11e4feb" providerId="LiveId" clId="{A3AE0FC4-E642-4DAF-99C2-2E02E3CB77AA}" dt="2026-10-21T21:13:13.546" v="37" actId="122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André Moreira" userId="a074d5cff11e4feb" providerId="LiveId" clId="{A3AE0FC4-E642-4DAF-99C2-2E02E3CB77AA}" dt="2026-10-21T21:10:57.816" v="22"/>
        <pc:sldMkLst>
          <pc:docMk/>
          <pc:sldMk cId="0" sldId="259"/>
        </pc:sldMkLst>
        <pc:spChg chg="mod">
          <ac:chgData name="André Moreira" userId="a074d5cff11e4feb" providerId="LiveId" clId="{A3AE0FC4-E642-4DAF-99C2-2E02E3CB77AA}" dt="2026-10-21T21:10:57.816" v="22"/>
          <ac:spMkLst>
            <pc:docMk/>
            <pc:sldMk cId="0" sldId="259"/>
            <ac:spMk id="6" creationId="{00000000-0000-0000-0000-000000000000}"/>
          </ac:spMkLst>
        </pc:spChg>
        <pc:picChg chg="mod">
          <ac:chgData name="André Moreira" userId="a074d5cff11e4feb" providerId="LiveId" clId="{A3AE0FC4-E642-4DAF-99C2-2E02E3CB77AA}" dt="2026-10-21T21:09:50.906" v="1" actId="14100"/>
          <ac:picMkLst>
            <pc:docMk/>
            <pc:sldMk cId="0" sldId="259"/>
            <ac:picMk id="10" creationId="{71B9A486-5BC8-EB80-4EDC-E7BA64D31AED}"/>
          </ac:picMkLst>
        </pc:picChg>
      </pc:sldChg>
      <pc:sldChg chg="modSp mod">
        <pc:chgData name="André Moreira" userId="a074d5cff11e4feb" providerId="LiveId" clId="{A3AE0FC4-E642-4DAF-99C2-2E02E3CB77AA}" dt="2026-10-21T21:10:23.452" v="13" actId="14100"/>
        <pc:sldMkLst>
          <pc:docMk/>
          <pc:sldMk cId="718610512" sldId="263"/>
        </pc:sldMkLst>
        <pc:spChg chg="mod">
          <ac:chgData name="André Moreira" userId="a074d5cff11e4feb" providerId="LiveId" clId="{A3AE0FC4-E642-4DAF-99C2-2E02E3CB77AA}" dt="2026-10-21T21:10:23.452" v="13" actId="14100"/>
          <ac:spMkLst>
            <pc:docMk/>
            <pc:sldMk cId="718610512" sldId="263"/>
            <ac:spMk id="6" creationId="{CADC52ED-3482-C78D-3F53-FF4B313635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18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1 min 30 s.</a:t>
            </a:r>
            <a:endParaRPr lang="pt-BR"/>
          </a:p>
          <a:p>
            <a:r>
              <a:rPr lang="pt-BR"/>
              <a:t>Bom dia. O nosso caso é o planejamento de demanda de uma indústria farmacêutica que opera no Brasil, mas depende de uma cadeia global para planejar, produzir, transportar, desembaraçar e disponibilizar os produtos para venda.</a:t>
            </a:r>
            <a:endParaRPr lang="pt-BR"/>
          </a:p>
          <a:p>
            <a:r>
              <a:rPr lang="pt-BR"/>
              <a:t>O problema estudado não é todo o processo de Supply Chain. O recorte está nas duas primeiras etapas do forecast no sistema AERA: a geração da previsão e o ajuste realizado por Marketing. É nesse ponto que uma decisão comercial se transforma em informação que orienta o abastecimento futuro.</a:t>
            </a:r>
            <a:endParaRPr lang="pt-BR"/>
          </a:p>
          <a:p>
            <a:r>
              <a:rPr lang="pt-BR"/>
              <a:t>A proposta mantém o conhecimento de Marketing sobre o mercado, mas muda a forma de registrá-lo e autorizá-lo. O AERA passa a gerar uma proposta inicial com base no plano financeiro por SKU; os ajustes passam a exigir justificativa, comentário e regra de autorização.</a:t>
            </a:r>
            <a:endParaRPr lang="pt-BR"/>
          </a:p>
          <a:p>
            <a:r>
              <a:rPr lang="pt-BR"/>
              <a:t>O objetivo é reduzir dois efeitos opostos de uma previsão inadequada: Lost Sales, quando falta produto para atender uma demanda real, e D&amp;O, quando há excesso e o produto vence antes de ser comercializado. As etapas posteriores de sanity check, fábricas e logística são preservadas.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2 min 30 s.</a:t>
            </a:r>
            <a:endParaRPr lang="pt-BR"/>
          </a:p>
          <a:p>
            <a:r>
              <a:rPr lang="pt-BR"/>
              <a:t>O primeiro elemento do problema é o lead time. O cenário informa uma média de cinco meses entre o envio do forecast pelas sucursais locais e a chegada efetiva do medicamento ao operador logístico no Brasil. Não se trata apenas de tempo de transporte: ele representa o intervalo em que a decisão de demanda já começou a orientar a cadeia, mas ainda não pode ser corrigida pela disponibilidade física do produto.</a:t>
            </a:r>
            <a:endParaRPr lang="pt-BR"/>
          </a:p>
          <a:p>
            <a:r>
              <a:rPr lang="pt-BR"/>
              <a:t>Esse prazo torna a qualidade da previsão especialmente relevante. Se o volume for superior à demanda que de fato se materializa, aumenta o risco de estoque sem giro e de vencimento. Se for inferior, a organização pode perder vendas porque o produto não estará disponível no momento em que o mercado o demanda.</a:t>
            </a:r>
            <a:endParaRPr lang="pt-BR"/>
          </a:p>
          <a:p>
            <a:r>
              <a:rPr lang="pt-BR"/>
              <a:t>O segundo elemento é a governança dos ajustes. Marketing tem informação valiosa sobre concorrência, eventos, bids e sinais de mercado. Ao mesmo tempo, Supply Chain precisa considerar estoque local e global, capacidade de produção e as consequências financeiras de um volume que não seja atendível ou que fique excessivo.</a:t>
            </a:r>
            <a:endParaRPr lang="pt-BR"/>
          </a:p>
          <a:p>
            <a:r>
              <a:rPr lang="pt-BR"/>
              <a:t>No estado atual, o slide descreve gorduras ou cortes de volume sem justificativa formal, critério de autorização ou histórico de alterações. Portanto, o caso não afirma que Marketing seja a causa isolada da perda; ele mostra que o processo não torna visíveis os fundamentos, os responsáveis e os efeitos de cada ajuste.</a:t>
            </a:r>
            <a:endParaRPr lang="pt-BR"/>
          </a:p>
          <a:p>
            <a:r>
              <a:rPr lang="pt-BR"/>
              <a:t>Os dois impactos destacados no slide são complementares. Lost Sales é perda de receita por falta de produto. D&amp;O é a perda financeira associada ao descarte de produto vencido ou obsoleto. A melhoria precisa equilibrar os dois, e não otimizar apenas um deles.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9431ABE2-6A51-6E51-3A94-CD2D995D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ns2:creationId id="{7F6A3060-B223-E74B-23E7-E43DD97A8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ns2:creationId id="{1DCD8119-1301-34A9-1B20-CAF08D9F4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3 min 30 s.</a:t>
            </a:r>
            <a:endParaRPr lang="pt-BR"/>
          </a:p>
          <a:p>
            <a:r>
              <a:rPr lang="pt-BR"/>
              <a:t>Este é o mapa AS-IS. As caixas azuis à esquerda mostram as entradas que já existem no processo: expectativa de vendas do Comercial; dados internos e sinais de mercado; plano financeiro no SAP Analytics Cloud Planning; estoques local e global, capacidade de produção; e eventos extraordinários, como concorrência, surtos e bids.</a:t>
            </a:r>
            <a:endParaRPr lang="pt-BR"/>
          </a:p>
          <a:p>
            <a:r>
              <a:rPr lang="pt-BR"/>
              <a:t>Na etapa 1, Marketing e Comercial projetam mensalmente as vendas para um horizonte de 24 meses. Essa projeção alimenta a etapa 2, em que Marketing consolida e ajusta a previsão e a registra no AERA. O ponto de dor assinalado no diagrama está exatamente aqui: podem ser incluídas gorduras ou cortes de volume sem que o fluxo atual exija uma justificativa registrada.</a:t>
            </a:r>
            <a:endParaRPr lang="pt-BR"/>
          </a:p>
          <a:p>
            <a:r>
              <a:rPr lang="pt-BR"/>
              <a:t>O AERA consolida os forecasts. A partir daí, Supply Chain Local executa a etapa 3: faz o sanity check contra o histórico e o plano financeiro, verifica estoques e capacidade de produção e comunica restrições. O diagrama mostra que Marketing pode então alinhar essas restrições e assumir o risco de perdas antes que os volumes sejam enviados mensalmente ao Supply Chain Global.</a:t>
            </a:r>
            <a:endParaRPr lang="pt-BR"/>
          </a:p>
          <a:p>
            <a:r>
              <a:rPr lang="pt-BR"/>
              <a:t>Na etapa 4, Supply Chain Global e fábricas planejam o atendimento do forecast. As fábricas consultam estoques no SAP e produzem conforme o forecast; alterações de programação são comunicadas ao Supply Chain Local. Na etapa 5, a operação local define a logística, conduz o desembaraço e o operador logístico recebe o produto até ele ficar disponível para venda.</a:t>
            </a:r>
            <a:endParaRPr lang="pt-BR"/>
          </a:p>
          <a:p>
            <a:r>
              <a:rPr lang="pt-BR"/>
              <a:t>Os eventos extraordinários formam uma entrada paralela: Supply Chain Local e Global podem buscar alternativas para capturar oportunidade ou mitigar risco. Isso é importante porque o cenário reconhece que nem toda variação de demanda é previsível. Ainda assim, uma exceção precisa ser tratada com visibilidade dentro do processo.</a:t>
            </a:r>
            <a:endParaRPr lang="pt-BR"/>
          </a:p>
          <a:p>
            <a:r>
              <a:rPr lang="pt-BR"/>
              <a:t>À direita, o AS-IS reúne os resultados indesejados: perda de receita por falta de produto, produto vencido antes da venda e o lead time total de cinco meses. O cenário não localiza um gargalo operacional específico. O que ele informa é uma restrição de tempo que amplifica os efeitos dos ajustes feitos no início do fluxo.</a:t>
            </a:r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ns2:creationId id="{A4A709AD-599C-915C-A3BC-F66813FF2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ns3:creationId val="2937218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4 min.</a:t>
            </a:r>
            <a:endParaRPr lang="pt-BR"/>
          </a:p>
          <a:p>
            <a:r>
              <a:rPr lang="pt-BR"/>
              <a:t>Agora, o TO-BE. A leitura visual é simples: os elementos verdes são os que mudam; os cinza permanecem como no AS-IS. A mudança é concentrada nas etapas 1 e 2. O sanity check local, o planejamento global com fábricas, a logística e o recebimento não são redesenhados.</a:t>
            </a:r>
            <a:endParaRPr lang="pt-BR"/>
          </a:p>
          <a:p>
            <a:r>
              <a:rPr lang="pt-BR"/>
              <a:t>A primeira alteração é a origem da proposta de forecast. Em vez de começar com uma consolidação manual, o AERA gera o forecast inicial a partir do plano financeiro por SKU. Isso não elimina a visão de mercado; cria uma referência inicial única e identificável para a discussão de demanda.</a:t>
            </a:r>
            <a:endParaRPr lang="pt-BR"/>
          </a:p>
          <a:p>
            <a:r>
              <a:rPr lang="pt-BR"/>
              <a:t>Na segunda etapa, Marketing recebe essa proposta e a avalia à luz dos dados internos e sinais de mercado. Se houver motivo para alterar o volume, a solicitação é registrada no AERA como ajuste material, com justificativa e comentário. O diagrama separa a solicitação do ajuste de sua aprovação: pedir uma alteração não significa que ela já esteja incorporada ao forecast.</a:t>
            </a:r>
            <a:endParaRPr lang="pt-BR"/>
          </a:p>
          <a:p>
            <a:r>
              <a:rPr lang="pt-BR"/>
              <a:t>A regra de autorização é explícita. O Supply Chain Global define o limite mínimo; o AERA verifica se o valor do ajuste supera esse limite. Se a regra for atendida, o AERA registra o ajuste aprovado e consolida o forecast. Se não for atendida, o ajuste negado também é registrado, para que exista rastreabilidade e auditoria do que foi solicitado e da decisão tomada.</a:t>
            </a:r>
            <a:endParaRPr lang="pt-BR"/>
          </a:p>
          <a:p>
            <a:r>
              <a:rPr lang="pt-BR"/>
              <a:t>Essa distinção é relevante para evitar dois extremos. Sem qualquer regra, mudanças de volume podem entrar no forecast sem critério comum. Com uma regra sem registro, a organização pode perder o contexto comercial que justificava a solicitação. O TO-BE preserva o pedido e sua justificativa, mas distingue pedido, decisão e forecast consolidado.</a:t>
            </a:r>
            <a:endParaRPr lang="pt-BR"/>
          </a:p>
          <a:p>
            <a:r>
              <a:rPr lang="pt-BR"/>
              <a:t>Depois da consolidação, o fluxo volta a ser o mesmo: Supply Chain Local realiza o sanity check, checa estoques e capacidade, alinha restrições com Marketing e encaminha os volumes para o planejamento global. A saída adicional do AERA são métricas e análises de D&amp;O, Lost Sales, riscos e assertividade contra o plano financeiro. Assim, será possível acompanhar se a nova governança melhora de fato o resultado, e não apenas se os campos foram preenchidos.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2 min 30 s.</a:t>
            </a:r>
            <a:endParaRPr lang="pt-BR"/>
          </a:p>
          <a:p>
            <a:r>
              <a:rPr lang="pt-BR"/>
              <a:t>Antes de configurar o TO-BE, o plano estabelece um Gate 0 de governança. Ele não é uma nova etapa do fluxo de demanda; é a condição para iniciar a configuração e, principalmente, para impedir que uma automação seja construída sobre regras ainda indefinidas.</a:t>
            </a:r>
            <a:endParaRPr lang="pt-BR"/>
          </a:p>
          <a:p>
            <a:r>
              <a:rPr lang="pt-BR"/>
              <a:t>O primeiro pré-requisito é formalizar o limite mínimo de autorização de ajustes no valor do forecast por SKU. Não basta declarar que há um limite: é preciso definir o valor ou a lógica de cálculo, o responsável por sua definição e a forma de aplicá-lo às solicitações.</a:t>
            </a:r>
            <a:endParaRPr lang="pt-BR"/>
          </a:p>
          <a:p>
            <a:r>
              <a:rPr lang="pt-BR"/>
              <a:t>O segundo é a fonte financeira por SKU. O AERA precisa saber qual versão aprovada do plano financeiro no SAP Analytics Cloud Planning será usada, quem a publica e o que acontece quando algum dado necessário não estiver disponível. Sem essa definição, a proposta inicial automática pode partir de uma referência inconsistente.</a:t>
            </a:r>
            <a:endParaRPr lang="pt-BR"/>
          </a:p>
          <a:p>
            <a:r>
              <a:rPr lang="pt-BR"/>
              <a:t>O terceiro é o desenho dos controles no AERA: valor, justificativa e comentário obrigatórios; histórico de solicitações aprovadas e negadas; e matriz de perfis autorizados. Esses elementos permitem responder posteriormente quem solicitou, o que solicitou, quando, com qual fundamento e qual foi a decisão.</a:t>
            </a:r>
            <a:endParaRPr lang="pt-BR"/>
          </a:p>
          <a:p>
            <a:r>
              <a:rPr lang="pt-BR"/>
              <a:t>O quarto é a saída para a etapa 3. O forecast consolidado precisa ser comparável ao histórico e ao plano financeiro no sanity check. O exemplo de uma SKU com vendas históricas entre 1.000 e 1.200 e forecast de 25.000 não prova que a previsão esteja errada, mas mostra uma discrepância que exige investigação antes de orientar produção e abastecimento.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2 min 30 s.</a:t>
            </a:r>
            <a:endParaRPr lang="pt-BR"/>
          </a:p>
          <a:p>
            <a:r>
              <a:rPr lang="pt-BR"/>
              <a:t>O plano de execução traduz o TO-BE em seis fases sequenciais. A sequência importa porque a configuração não deve anteceder a validação dos dados, e o go-live não deve anteceder a simulação do processo completo.</a:t>
            </a:r>
            <a:endParaRPr lang="pt-BR"/>
          </a:p>
          <a:p>
            <a:r>
              <a:rPr lang="pt-BR"/>
              <a:t>Na fase 1, são preparados dados e ambiente: plano financeiro por SKU, histórico de vendas por SKU e validação das cargas. Na fase 2, o AERA é configurado com a automação do forecast inicial, o formulário de ajuste, a regra de limite e as funcionalidades de auditoria.</a:t>
            </a:r>
            <a:endParaRPr lang="pt-BR"/>
          </a:p>
          <a:p>
            <a:r>
              <a:rPr lang="pt-BR"/>
              <a:t>A fase 3 testa os controles de negócio que aparecem no TO-BE. O sistema deve bloquear ajuste sem justificativa; deve aplicar a regra de limite; e deve gerar relatório de alterações para auditoria. Aqui, o foco não é apenas testar se a tela funciona, mas se a regra de governança realmente é cumprida.</a:t>
            </a:r>
            <a:endParaRPr lang="pt-BR"/>
          </a:p>
          <a:p>
            <a:r>
              <a:rPr lang="pt-BR"/>
              <a:t>Na fase 4, é feita a simulação ponta a ponta: geração da proposta, solicitação de ajuste, decisão, consolidação e saída para o sanity check. O processo revisado precisa ser validado por Marketing, Supply Chain e Finanças porque cada área usa uma parte diferente da informação e responde por um risco diferente.</a:t>
            </a:r>
            <a:endParaRPr lang="pt-BR"/>
          </a:p>
          <a:p>
            <a:r>
              <a:rPr lang="pt-BR"/>
              <a:t>Na aprovação da simulação, vale conferir se o relatório permite reconstruir um caso completo: versão do plano financeiro de origem, usuário que solicitou o ajuste, justificativa, valor, decisão aplicada e forecast enviado ao sanity check.</a:t>
            </a:r>
            <a:endParaRPr lang="pt-BR"/>
          </a:p>
          <a:p>
            <a:r>
              <a:rPr lang="pt-BR"/>
              <a:t>As fases 5 e 6 tratam de treinamento, entrada em produção, estabilização e indicadores. O acompanhamento de D&amp;O, Lost Sales, nível de estoque e comparação com o baseline permite avaliar a eficácia. Se os indicadores não melhorarem, o histórico de ajustes fornece uma base concreta para investigar causas e aperfeiçoar a regra ou a qualidade dos dados.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1 min 30 s.</a:t>
            </a:r>
            <a:endParaRPr lang="pt-BR"/>
          </a:p>
          <a:p>
            <a:r>
              <a:rPr lang="pt-BR"/>
              <a:t>Por fim, o plano reconhece que a implementação também tem riscos. O primeiro é a resistência à mudança. A prevenção é o alinhamento entre os stakeholders e a comunicação dos benefícios do novo processo; se a condição de superação não for atendida, o sponsor atua para remover as barreiras entre as áreas.</a:t>
            </a:r>
            <a:endParaRPr lang="pt-BR"/>
          </a:p>
          <a:p>
            <a:r>
              <a:rPr lang="pt-BR"/>
              <a:t>O segundo risco é o subdimensionamento da demanda quando o baseline financeiro for conservador. A resposta não é liberar ajustes sem controle. É manter o forecast financeiro e o de demanda alinhados e permitir que Marketing e Comercial apresentem uma expectativa realista e justificada para situações específicas.</a:t>
            </a:r>
            <a:endParaRPr lang="pt-BR"/>
          </a:p>
          <a:p>
            <a:r>
              <a:rPr lang="pt-BR"/>
              <a:t>A contingência protege a continuidade operacional. Se houver falha crítica antes da consolidação do forecast, o ciclo afetado retorna temporariamente ao fluxo legado das etapas 1 e 2. Os dados já registrados no AERA são preservados para auditoria e diagnóstico, e as etapas 3 a 5 permanecem inalteradas.</a:t>
            </a:r>
            <a:endParaRPr lang="pt-BR"/>
          </a:p>
          <a:p>
            <a:r>
              <a:rPr lang="pt-BR"/>
              <a:t>Em síntese, a proposta não retira o julgamento comercial do processo. Ela o transforma em uma informação justificada, registrada, autorizada conforme uma regra e analisável junto com os resultados de D&amp;O e Lost Sales. Obrigado; ficamos à disposição para perguntas.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t>PROJETO DE GESTÃO DE OPERAÇÕES E CADEIA DE SUPRIMENTOS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t>Otimização e Automação do Fluxo de Forecast no Sistema AERA</a:t>
            </a:r>
          </a:p>
          <a:p>
            <a:pPr>
              <a:spcAft>
                <a:spcPts val="2800"/>
              </a:spcAft>
              <a:defRPr sz="1800">
                <a:solidFill>
                  <a:srgbClr val="DCE6F1"/>
                </a:solidFill>
                <a:latin typeface="Verdana"/>
              </a:defRPr>
            </a:pPr>
            <a:r>
              <a:t>Redesenho do Processo de Demanda, Mapeamento AS-IS/TO-BE e Plano de Implantação</a:t>
            </a:r>
          </a:p>
          <a:p>
            <a:pPr>
              <a:defRPr sz="1300">
                <a:solidFill>
                  <a:srgbClr val="AABBCC"/>
                </a:solidFill>
                <a:latin typeface="Verdana"/>
              </a:defRPr>
            </a:pPr>
            <a:r>
              <a:t>Docentes: Prof. Dr. Alvair Silveira Torres Jr. &amp; Profa. Dra. Marisangela (2026)</a:t>
            </a:r>
            <a:br/>
            <a:r>
              <a:t>Indústria Farmacêutica — Unidade Brasil &amp; Operações Globais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Conflito Comercial vs. Supply Chain e Lead Time de 5 Meses Geram Elevadas Perdas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/>
              </a:defRPr>
            </a:pPr>
            <a:r>
              <a:rPr dirty="0"/>
              <a:t>GARGALO CRÍTICO 1</a:t>
            </a:r>
          </a:p>
          <a:p>
            <a:pPr algn="ctr">
              <a:spcAft>
                <a:spcPts val="1000"/>
              </a:spcAft>
              <a:defRPr sz="3600" b="1">
                <a:solidFill>
                  <a:srgbClr val="1B2A4A"/>
                </a:solidFill>
                <a:latin typeface="Georgia"/>
              </a:defRPr>
            </a:pPr>
            <a:r>
              <a:rPr dirty="0"/>
              <a:t> </a:t>
            </a:r>
            <a:r>
              <a:rPr lang="pt-BR" dirty="0">
                <a:latin typeface="+mj-lt"/>
              </a:rPr>
              <a:t>5 </a:t>
            </a:r>
            <a:r>
              <a:rPr dirty="0">
                <a:latin typeface="+mj-lt"/>
              </a:rPr>
              <a:t>Meses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rPr dirty="0"/>
              <a:t>Lead Time </a:t>
            </a:r>
            <a:r>
              <a:rPr dirty="0" err="1"/>
              <a:t>Médio</a:t>
            </a:r>
            <a:r>
              <a:rPr dirty="0"/>
              <a:t> Global</a:t>
            </a:r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Transcurso</a:t>
            </a:r>
            <a:r>
              <a:rPr dirty="0"/>
              <a:t> entre o </a:t>
            </a:r>
            <a:r>
              <a:rPr dirty="0" err="1"/>
              <a:t>envio</a:t>
            </a:r>
            <a:r>
              <a:rPr dirty="0"/>
              <a:t> do forecast </a:t>
            </a:r>
            <a:r>
              <a:rPr dirty="0" err="1"/>
              <a:t>pelas</a:t>
            </a:r>
            <a:r>
              <a:rPr dirty="0"/>
              <a:t> </a:t>
            </a:r>
            <a:r>
              <a:rPr dirty="0" err="1"/>
              <a:t>sucursais</a:t>
            </a:r>
            <a:r>
              <a:rPr dirty="0"/>
              <a:t> </a:t>
            </a:r>
            <a:r>
              <a:rPr dirty="0" err="1"/>
              <a:t>locais</a:t>
            </a:r>
            <a:r>
              <a:rPr dirty="0"/>
              <a:t> e a </a:t>
            </a:r>
            <a:r>
              <a:rPr dirty="0" err="1"/>
              <a:t>chegada</a:t>
            </a:r>
            <a:r>
              <a:rPr dirty="0"/>
              <a:t> </a:t>
            </a:r>
            <a:r>
              <a:rPr dirty="0" err="1"/>
              <a:t>efetiva</a:t>
            </a:r>
            <a:r>
              <a:rPr dirty="0"/>
              <a:t> do </a:t>
            </a:r>
            <a:r>
              <a:rPr dirty="0" err="1"/>
              <a:t>medicamento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operador</a:t>
            </a:r>
            <a:r>
              <a:rPr dirty="0"/>
              <a:t> </a:t>
            </a:r>
            <a:r>
              <a:rPr dirty="0" err="1"/>
              <a:t>logístico</a:t>
            </a:r>
            <a:r>
              <a:rPr dirty="0"/>
              <a:t> no </a:t>
            </a:r>
            <a:r>
              <a:rPr dirty="0" err="1"/>
              <a:t>Brasil</a:t>
            </a:r>
            <a:r>
              <a:rPr dirty="0"/>
              <a:t>.</a:t>
            </a:r>
            <a:br>
              <a:rPr dirty="0"/>
            </a:br>
            <a:r>
              <a:rPr dirty="0"/>
              <a:t>• Longa </a:t>
            </a:r>
            <a:r>
              <a:rPr dirty="0" err="1"/>
              <a:t>janela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precisão</a:t>
            </a:r>
            <a:r>
              <a:rPr dirty="0"/>
              <a:t> do </a:t>
            </a:r>
            <a:r>
              <a:rPr dirty="0" err="1"/>
              <a:t>planejamento</a:t>
            </a:r>
            <a:r>
              <a:rPr dirty="0"/>
              <a:t> de </a:t>
            </a:r>
            <a:r>
              <a:rPr dirty="0" err="1"/>
              <a:t>vendas</a:t>
            </a:r>
            <a:r>
              <a:rPr dirty="0"/>
              <a:t>, </a:t>
            </a:r>
            <a:r>
              <a:rPr dirty="0" err="1"/>
              <a:t>tornando</a:t>
            </a:r>
            <a:r>
              <a:rPr dirty="0"/>
              <a:t>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distorção</a:t>
            </a:r>
            <a:r>
              <a:rPr dirty="0"/>
              <a:t> </a:t>
            </a:r>
            <a:r>
              <a:rPr dirty="0" err="1"/>
              <a:t>altamente</a:t>
            </a:r>
            <a:r>
              <a:rPr dirty="0"/>
              <a:t> </a:t>
            </a:r>
            <a:r>
              <a:rPr dirty="0" err="1"/>
              <a:t>amplificada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r>
              <a:rPr dirty="0"/>
              <a:t>GARGALO CRÍTICO 2</a:t>
            </a:r>
          </a:p>
          <a:p>
            <a:pPr algn="ctr">
              <a:spcAft>
                <a:spcPts val="1000"/>
              </a:spcAft>
              <a:defRPr sz="3200" b="1">
                <a:solidFill>
                  <a:srgbClr val="1B2A4A"/>
                </a:solidFill>
                <a:latin typeface="Georgia"/>
              </a:defRPr>
            </a:pPr>
            <a:r>
              <a:rPr dirty="0" err="1">
                <a:latin typeface="+mj-lt"/>
              </a:rPr>
              <a:t>Subjetividade</a:t>
            </a:r>
            <a:endParaRPr dirty="0">
              <a:latin typeface="+mj-lt"/>
            </a:endParaRP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rPr dirty="0" err="1"/>
              <a:t>Ajustes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endParaRPr dirty="0"/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Conflito</a:t>
            </a:r>
            <a:r>
              <a:rPr dirty="0"/>
              <a:t> de interesses: Marketing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maximizar</a:t>
            </a:r>
            <a:r>
              <a:rPr dirty="0"/>
              <a:t> volume e </a:t>
            </a:r>
            <a:r>
              <a:rPr dirty="0" err="1"/>
              <a:t>metas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, </a:t>
            </a:r>
            <a:r>
              <a:rPr dirty="0" err="1"/>
              <a:t>inserindo</a:t>
            </a:r>
            <a:r>
              <a:rPr dirty="0"/>
              <a:t> '</a:t>
            </a:r>
            <a:r>
              <a:rPr dirty="0" err="1"/>
              <a:t>gordura</a:t>
            </a:r>
            <a:r>
              <a:rPr dirty="0"/>
              <a:t>'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realizando</a:t>
            </a:r>
            <a:r>
              <a:rPr dirty="0"/>
              <a:t> cortes </a:t>
            </a:r>
            <a:r>
              <a:rPr dirty="0" err="1"/>
              <a:t>arbitrários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Ausência</a:t>
            </a:r>
            <a:r>
              <a:rPr dirty="0"/>
              <a:t> de </a:t>
            </a:r>
            <a:r>
              <a:rPr dirty="0" err="1"/>
              <a:t>critérios</a:t>
            </a:r>
            <a:r>
              <a:rPr dirty="0"/>
              <a:t> </a:t>
            </a:r>
            <a:r>
              <a:rPr dirty="0" err="1"/>
              <a:t>formais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retenção</a:t>
            </a:r>
            <a:r>
              <a:rPr dirty="0"/>
              <a:t> de histórico de </a:t>
            </a:r>
            <a:r>
              <a:rPr dirty="0" err="1"/>
              <a:t>alterações</a:t>
            </a:r>
            <a:r>
              <a:rPr dirty="0"/>
              <a:t> </a:t>
            </a:r>
            <a:r>
              <a:rPr dirty="0" err="1"/>
              <a:t>dificulta</a:t>
            </a:r>
            <a:r>
              <a:rPr dirty="0"/>
              <a:t> a auditoria e </a:t>
            </a:r>
            <a:r>
              <a:rPr dirty="0" err="1"/>
              <a:t>gera</a:t>
            </a:r>
            <a:r>
              <a:rPr dirty="0"/>
              <a:t> </a:t>
            </a:r>
            <a:r>
              <a:rPr dirty="0" err="1"/>
              <a:t>desalinhamento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/>
              </a:defRPr>
            </a:pPr>
            <a:r>
              <a:rPr dirty="0"/>
              <a:t>IMPACTOS NO NEGÓCIO</a:t>
            </a:r>
          </a:p>
          <a:p>
            <a:pPr algn="ctr">
              <a:spcAft>
                <a:spcPts val="1000"/>
              </a:spcAft>
              <a:defRPr sz="3000" b="1">
                <a:solidFill>
                  <a:srgbClr val="1B2A4A"/>
                </a:solidFill>
                <a:latin typeface="Georgia"/>
              </a:defRPr>
            </a:pPr>
            <a:r>
              <a:rPr dirty="0">
                <a:latin typeface="+mj-lt"/>
              </a:rPr>
              <a:t>D&amp;O e Lost Sales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rPr dirty="0" err="1"/>
              <a:t>Desperdício</a:t>
            </a:r>
            <a:r>
              <a:rPr dirty="0"/>
              <a:t> e </a:t>
            </a:r>
            <a:r>
              <a:rPr dirty="0" err="1"/>
              <a:t>Ruptura</a:t>
            </a:r>
            <a:endParaRPr dirty="0"/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rPr dirty="0"/>
              <a:t>• Lost Sales: </a:t>
            </a:r>
            <a:r>
              <a:rPr dirty="0" err="1"/>
              <a:t>Perda</a:t>
            </a:r>
            <a:r>
              <a:rPr dirty="0"/>
              <a:t> de </a:t>
            </a:r>
            <a:r>
              <a:rPr dirty="0" err="1"/>
              <a:t>receita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de 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à </a:t>
            </a:r>
            <a:r>
              <a:rPr dirty="0" err="1"/>
              <a:t>demanda</a:t>
            </a:r>
            <a:r>
              <a:rPr dirty="0"/>
              <a:t> real de mercado.</a:t>
            </a:r>
            <a:br>
              <a:rPr dirty="0"/>
            </a:br>
            <a:r>
              <a:rPr dirty="0"/>
              <a:t>• D&amp;O (</a:t>
            </a:r>
            <a:r>
              <a:rPr dirty="0" err="1"/>
              <a:t>Destruição</a:t>
            </a:r>
            <a:r>
              <a:rPr dirty="0"/>
              <a:t> &amp; </a:t>
            </a:r>
            <a:r>
              <a:rPr dirty="0" err="1"/>
              <a:t>Obsolescência</a:t>
            </a:r>
            <a:r>
              <a:rPr dirty="0"/>
              <a:t>): </a:t>
            </a:r>
            <a:r>
              <a:rPr dirty="0" err="1"/>
              <a:t>Prejuízo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descarte</a:t>
            </a:r>
            <a:r>
              <a:rPr dirty="0"/>
              <a:t> de </a:t>
            </a:r>
            <a:r>
              <a:rPr dirty="0" err="1"/>
              <a:t>medicamentos</a:t>
            </a:r>
            <a:r>
              <a:rPr dirty="0"/>
              <a:t> </a:t>
            </a:r>
            <a:r>
              <a:rPr dirty="0" err="1"/>
              <a:t>vencidos</a:t>
            </a:r>
            <a:r>
              <a:rPr dirty="0"/>
              <a:t> </a:t>
            </a:r>
            <a:r>
              <a:rPr dirty="0" err="1"/>
              <a:t>estocados</a:t>
            </a:r>
            <a:r>
              <a:rPr dirty="0"/>
              <a:t> em </a:t>
            </a:r>
            <a:r>
              <a:rPr dirty="0" err="1"/>
              <a:t>excesso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B2CCA-186D-D716-A883-5790787F2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6B7C6-1ED8-DA2D-F501-E988D536926A}"/>
              </a:ext>
            </a:extLst>
          </p:cNvPr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C93F6-496E-870C-3F85-E164A6553429}"/>
              </a:ext>
            </a:extLst>
          </p:cNvPr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Mapeamento</a:t>
            </a:r>
            <a:r>
              <a:rPr dirty="0"/>
              <a:t> AS-IS </a:t>
            </a:r>
            <a:r>
              <a:rPr dirty="0" err="1"/>
              <a:t>Ilustra</a:t>
            </a:r>
            <a:r>
              <a:rPr dirty="0"/>
              <a:t> o </a:t>
            </a:r>
            <a:r>
              <a:rPr dirty="0" err="1"/>
              <a:t>Fluxo</a:t>
            </a:r>
            <a:r>
              <a:rPr dirty="0"/>
              <a:t> Manual e </a:t>
            </a:r>
            <a:r>
              <a:rPr dirty="0" err="1"/>
              <a:t>os</a:t>
            </a:r>
            <a:r>
              <a:rPr dirty="0"/>
              <a:t> Pontos de </a:t>
            </a:r>
            <a:r>
              <a:rPr dirty="0" err="1"/>
              <a:t>Atrito</a:t>
            </a:r>
            <a:r>
              <a:rPr dirty="0"/>
              <a:t> </a:t>
            </a:r>
            <a:r>
              <a:rPr dirty="0" err="1"/>
              <a:t>Interdepartamental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32C1AF-C8B2-53F6-6125-CB714554C6B3}"/>
              </a:ext>
            </a:extLst>
          </p:cNvPr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6497697-BAA2-DA04-B6C5-0D17E0CCA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56" y="1497023"/>
            <a:ext cx="9806688" cy="5040937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DC52ED-3482-C78D-3F53-FF4B31363513}"/>
              </a:ext>
            </a:extLst>
          </p:cNvPr>
          <p:cNvSpPr/>
          <p:nvPr/>
        </p:nvSpPr>
        <p:spPr>
          <a:xfrm>
            <a:off x="10247044" y="1645920"/>
            <a:ext cx="1504600" cy="49412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 Etapa 1 — Coleta Comercial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coleta a </a:t>
            </a:r>
            <a:r>
              <a:rPr sz="600" dirty="0" err="1"/>
              <a:t>expectativa</a:t>
            </a:r>
            <a:r>
              <a:rPr sz="600" dirty="0"/>
              <a:t> mensal de </a:t>
            </a:r>
            <a:r>
              <a:rPr sz="600" dirty="0" err="1"/>
              <a:t>vendas</a:t>
            </a:r>
            <a:r>
              <a:rPr sz="600" dirty="0"/>
              <a:t> com </a:t>
            </a:r>
            <a:r>
              <a:rPr sz="600" dirty="0" err="1"/>
              <a:t>Comercial</a:t>
            </a:r>
            <a:r>
              <a:rPr sz="600" dirty="0"/>
              <a:t> para </a:t>
            </a:r>
            <a:r>
              <a:rPr sz="600" dirty="0" err="1"/>
              <a:t>projeção</a:t>
            </a:r>
            <a:r>
              <a:rPr sz="600" dirty="0"/>
              <a:t> de 24 meses.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2 — </a:t>
            </a:r>
            <a:r>
              <a:rPr sz="800" dirty="0" err="1"/>
              <a:t>Ajustes</a:t>
            </a:r>
            <a:r>
              <a:rPr sz="800" dirty="0"/>
              <a:t> </a:t>
            </a:r>
            <a:r>
              <a:rPr sz="800" dirty="0" err="1"/>
              <a:t>Manuais</a:t>
            </a:r>
            <a:endParaRPr sz="800"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</a:t>
            </a:r>
            <a:r>
              <a:rPr sz="600" dirty="0" err="1"/>
              <a:t>consolida</a:t>
            </a:r>
            <a:r>
              <a:rPr sz="600" dirty="0"/>
              <a:t> dados no AERA </a:t>
            </a:r>
            <a:r>
              <a:rPr sz="600" dirty="0" err="1"/>
              <a:t>aplicandogorduras</a:t>
            </a:r>
            <a:r>
              <a:rPr sz="600" dirty="0"/>
              <a:t> </a:t>
            </a:r>
            <a:r>
              <a:rPr sz="600" dirty="0" err="1"/>
              <a:t>ou</a:t>
            </a:r>
            <a:r>
              <a:rPr sz="600" dirty="0"/>
              <a:t> cortes </a:t>
            </a:r>
            <a:r>
              <a:rPr sz="600" dirty="0" err="1"/>
              <a:t>subjetivos</a:t>
            </a:r>
            <a:r>
              <a:rPr sz="600" dirty="0"/>
              <a:t> </a:t>
            </a:r>
            <a:r>
              <a:rPr sz="600" dirty="0" err="1"/>
              <a:t>sem</a:t>
            </a:r>
            <a:r>
              <a:rPr sz="600" dirty="0"/>
              <a:t> </a:t>
            </a:r>
            <a:r>
              <a:rPr sz="600" dirty="0" err="1"/>
              <a:t>registro</a:t>
            </a:r>
            <a:r>
              <a:rPr sz="600" dirty="0"/>
              <a:t> formal de </a:t>
            </a:r>
            <a:r>
              <a:rPr sz="600" dirty="0" err="1"/>
              <a:t>justificativa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3 — Sanity Check Local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Supply Chain Local </a:t>
            </a:r>
            <a:r>
              <a:rPr sz="600" dirty="0" err="1"/>
              <a:t>consolida</a:t>
            </a:r>
            <a:r>
              <a:rPr sz="600" dirty="0"/>
              <a:t> e </a:t>
            </a:r>
            <a:r>
              <a:rPr sz="600" dirty="0" err="1"/>
              <a:t>compara</a:t>
            </a:r>
            <a:r>
              <a:rPr sz="600" dirty="0"/>
              <a:t> com o Plano </a:t>
            </a:r>
            <a:r>
              <a:rPr sz="600" dirty="0" err="1"/>
              <a:t>Financeiro</a:t>
            </a:r>
            <a:r>
              <a:rPr sz="600" dirty="0"/>
              <a:t> (SAP Analytics Cloud Planning).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4 — </a:t>
            </a:r>
            <a:r>
              <a:rPr sz="800" dirty="0" err="1"/>
              <a:t>Produção</a:t>
            </a:r>
            <a:r>
              <a:rPr sz="800" dirty="0"/>
              <a:t> Global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Fábricas </a:t>
            </a:r>
            <a:r>
              <a:rPr sz="600" dirty="0" err="1"/>
              <a:t>globais</a:t>
            </a:r>
            <a:r>
              <a:rPr sz="600" dirty="0"/>
              <a:t> </a:t>
            </a:r>
            <a:r>
              <a:rPr sz="600" dirty="0" err="1"/>
              <a:t>recebem</a:t>
            </a:r>
            <a:r>
              <a:rPr sz="600" dirty="0"/>
              <a:t> a </a:t>
            </a:r>
            <a:r>
              <a:rPr sz="600" dirty="0" err="1"/>
              <a:t>demanda</a:t>
            </a:r>
            <a:r>
              <a:rPr sz="600" dirty="0"/>
              <a:t> com lead time </a:t>
            </a:r>
            <a:r>
              <a:rPr sz="600" dirty="0" err="1"/>
              <a:t>médio</a:t>
            </a:r>
            <a:r>
              <a:rPr sz="600" dirty="0"/>
              <a:t> de 5 meses </a:t>
            </a:r>
            <a:r>
              <a:rPr sz="600" dirty="0" err="1"/>
              <a:t>até</a:t>
            </a:r>
            <a:r>
              <a:rPr sz="600" dirty="0"/>
              <a:t> a filial </a:t>
            </a:r>
            <a:r>
              <a:rPr sz="600" dirty="0" err="1"/>
              <a:t>Brasil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5 — </a:t>
            </a:r>
            <a:r>
              <a:rPr sz="800" dirty="0" err="1"/>
              <a:t>Logística</a:t>
            </a:r>
            <a:r>
              <a:rPr sz="800" dirty="0"/>
              <a:t> &amp; Venda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Transporte (</a:t>
            </a:r>
            <a:r>
              <a:rPr sz="600" dirty="0" err="1"/>
              <a:t>aéreo</a:t>
            </a:r>
            <a:r>
              <a:rPr sz="600" dirty="0"/>
              <a:t>/</a:t>
            </a:r>
            <a:r>
              <a:rPr sz="600" dirty="0" err="1"/>
              <a:t>marítimo</a:t>
            </a:r>
            <a:r>
              <a:rPr sz="600" dirty="0"/>
              <a:t>), </a:t>
            </a:r>
            <a:r>
              <a:rPr sz="600" dirty="0" err="1"/>
              <a:t>desembaraço</a:t>
            </a:r>
            <a:r>
              <a:rPr sz="600" dirty="0"/>
              <a:t>, </a:t>
            </a:r>
            <a:r>
              <a:rPr sz="600" dirty="0" err="1"/>
              <a:t>operador</a:t>
            </a:r>
            <a:r>
              <a:rPr sz="600" dirty="0"/>
              <a:t> </a:t>
            </a:r>
            <a:r>
              <a:rPr sz="600" dirty="0" err="1"/>
              <a:t>logístico</a:t>
            </a:r>
            <a:r>
              <a:rPr sz="600" dirty="0"/>
              <a:t> e </a:t>
            </a:r>
            <a:r>
              <a:rPr sz="600" dirty="0" err="1"/>
              <a:t>liberação</a:t>
            </a:r>
            <a:r>
              <a:rPr sz="600" dirty="0"/>
              <a:t> </a:t>
            </a:r>
            <a:r>
              <a:rPr sz="600" dirty="0" err="1"/>
              <a:t>comercial</a:t>
            </a:r>
            <a:r>
              <a:rPr sz="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8610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Redesenho</a:t>
            </a:r>
            <a:r>
              <a:rPr dirty="0"/>
              <a:t> TO-BE </a:t>
            </a:r>
            <a:r>
              <a:rPr dirty="0" err="1"/>
              <a:t>Automatiza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e Exige </a:t>
            </a:r>
            <a:r>
              <a:rPr dirty="0" err="1"/>
              <a:t>Justificativa</a:t>
            </a:r>
            <a:r>
              <a:rPr dirty="0"/>
              <a:t> e </a:t>
            </a:r>
            <a:r>
              <a:rPr dirty="0" err="1"/>
              <a:t>Governança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1B9A486-5BC8-EB80-4EDC-E7BA64D31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554481"/>
            <a:ext cx="9587818" cy="49406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175490" y="1554480"/>
            <a:ext cx="1544443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 </a:t>
            </a:r>
            <a:r>
              <a:rPr sz="800" dirty="0"/>
              <a:t>Etapa 1 (</a:t>
            </a:r>
            <a:r>
              <a:rPr sz="800" dirty="0" err="1"/>
              <a:t>Redesenhada</a:t>
            </a:r>
            <a:r>
              <a:rPr sz="800"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AERA </a:t>
            </a:r>
            <a:r>
              <a:rPr sz="600" dirty="0" err="1"/>
              <a:t>gera</a:t>
            </a:r>
            <a:r>
              <a:rPr sz="600" dirty="0"/>
              <a:t> </a:t>
            </a:r>
            <a:r>
              <a:rPr sz="600" dirty="0" err="1"/>
              <a:t>proposta</a:t>
            </a:r>
            <a:r>
              <a:rPr sz="600" dirty="0"/>
              <a:t> </a:t>
            </a:r>
            <a:r>
              <a:rPr sz="600" dirty="0" err="1"/>
              <a:t>inicial</a:t>
            </a:r>
            <a:r>
              <a:rPr sz="600" dirty="0"/>
              <a:t> </a:t>
            </a:r>
            <a:r>
              <a:rPr sz="600" dirty="0" err="1"/>
              <a:t>automática</a:t>
            </a:r>
            <a:r>
              <a:rPr sz="600" dirty="0"/>
              <a:t> a </a:t>
            </a:r>
            <a:r>
              <a:rPr sz="600" dirty="0" err="1"/>
              <a:t>partir</a:t>
            </a:r>
            <a:r>
              <a:rPr sz="600" dirty="0"/>
              <a:t> do Plano </a:t>
            </a:r>
            <a:r>
              <a:rPr sz="600" dirty="0" err="1"/>
              <a:t>Financeiro</a:t>
            </a:r>
            <a:r>
              <a:rPr sz="600" dirty="0"/>
              <a:t> </a:t>
            </a:r>
            <a:r>
              <a:rPr sz="600" dirty="0" err="1"/>
              <a:t>aprovado</a:t>
            </a:r>
            <a:r>
              <a:rPr sz="600" dirty="0"/>
              <a:t> </a:t>
            </a:r>
            <a:r>
              <a:rPr sz="600" dirty="0" err="1"/>
              <a:t>por</a:t>
            </a:r>
            <a:r>
              <a:rPr sz="600" dirty="0"/>
              <a:t> SKU.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</a:t>
            </a:r>
            <a:r>
              <a:rPr sz="800" dirty="0"/>
              <a:t> Etapa 2 (</a:t>
            </a:r>
            <a:r>
              <a:rPr sz="800" dirty="0" err="1"/>
              <a:t>Redesenhada</a:t>
            </a:r>
            <a:r>
              <a:rPr sz="800"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</a:t>
            </a:r>
            <a:r>
              <a:rPr sz="600" dirty="0" err="1"/>
              <a:t>avalia</a:t>
            </a:r>
            <a:r>
              <a:rPr sz="600" dirty="0"/>
              <a:t> e </a:t>
            </a:r>
            <a:r>
              <a:rPr sz="600" dirty="0" err="1"/>
              <a:t>submete</a:t>
            </a:r>
            <a:r>
              <a:rPr sz="600" dirty="0"/>
              <a:t> </a:t>
            </a:r>
            <a:r>
              <a:rPr sz="600" dirty="0" err="1"/>
              <a:t>solicitações</a:t>
            </a:r>
            <a:r>
              <a:rPr sz="600" dirty="0"/>
              <a:t> com valor, </a:t>
            </a:r>
            <a:r>
              <a:rPr sz="600" dirty="0" err="1"/>
              <a:t>justificativa</a:t>
            </a:r>
            <a:r>
              <a:rPr sz="600" dirty="0"/>
              <a:t> e </a:t>
            </a:r>
            <a:r>
              <a:rPr sz="600" dirty="0" err="1"/>
              <a:t>comentário</a:t>
            </a:r>
            <a:r>
              <a:rPr sz="600" dirty="0"/>
              <a:t> </a:t>
            </a:r>
            <a:r>
              <a:rPr sz="600" dirty="0" err="1"/>
              <a:t>obrigatórios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</a:t>
            </a:r>
            <a:r>
              <a:rPr sz="800" dirty="0"/>
              <a:t> </a:t>
            </a:r>
            <a:r>
              <a:rPr sz="800" dirty="0" err="1"/>
              <a:t>Regra</a:t>
            </a:r>
            <a:r>
              <a:rPr sz="800" dirty="0"/>
              <a:t> de </a:t>
            </a:r>
            <a:r>
              <a:rPr sz="800" dirty="0" err="1"/>
              <a:t>Autorização</a:t>
            </a:r>
            <a:endParaRPr sz="800"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 err="1"/>
              <a:t>Ajuste</a:t>
            </a:r>
            <a:r>
              <a:rPr sz="600" dirty="0"/>
              <a:t> </a:t>
            </a:r>
            <a:r>
              <a:rPr sz="600" dirty="0" err="1"/>
              <a:t>só</a:t>
            </a:r>
            <a:r>
              <a:rPr sz="600" dirty="0"/>
              <a:t> é </a:t>
            </a:r>
            <a:r>
              <a:rPr sz="600" dirty="0" err="1"/>
              <a:t>autorizado</a:t>
            </a:r>
            <a:r>
              <a:rPr sz="600" dirty="0"/>
              <a:t> se superior </a:t>
            </a:r>
            <a:r>
              <a:rPr sz="600" dirty="0" err="1"/>
              <a:t>ao</a:t>
            </a:r>
            <a:r>
              <a:rPr sz="600" dirty="0"/>
              <a:t> </a:t>
            </a:r>
            <a:r>
              <a:rPr sz="600" dirty="0" err="1"/>
              <a:t>limite</a:t>
            </a:r>
            <a:r>
              <a:rPr sz="600" dirty="0"/>
              <a:t> </a:t>
            </a:r>
            <a:r>
              <a:rPr sz="600" dirty="0" err="1"/>
              <a:t>mínimo</a:t>
            </a:r>
            <a:r>
              <a:rPr sz="600" dirty="0"/>
              <a:t> </a:t>
            </a:r>
            <a:r>
              <a:rPr sz="600" dirty="0" err="1"/>
              <a:t>configurado</a:t>
            </a:r>
            <a:r>
              <a:rPr sz="600" dirty="0"/>
              <a:t> </a:t>
            </a:r>
            <a:r>
              <a:rPr sz="600" dirty="0" err="1"/>
              <a:t>pelo</a:t>
            </a:r>
            <a:r>
              <a:rPr sz="600" dirty="0"/>
              <a:t> Global Supply Chain.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</a:t>
            </a:r>
            <a:r>
              <a:rPr sz="800" dirty="0"/>
              <a:t> Trilha de Auditoria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AERA </a:t>
            </a:r>
            <a:r>
              <a:rPr sz="600" dirty="0" err="1"/>
              <a:t>retém</a:t>
            </a:r>
            <a:r>
              <a:rPr sz="600" dirty="0"/>
              <a:t> </a:t>
            </a:r>
            <a:r>
              <a:rPr sz="600" dirty="0" err="1"/>
              <a:t>solicitações</a:t>
            </a:r>
            <a:r>
              <a:rPr sz="600" dirty="0"/>
              <a:t> </a:t>
            </a:r>
            <a:r>
              <a:rPr sz="600" dirty="0" err="1"/>
              <a:t>aprovadas</a:t>
            </a:r>
            <a:r>
              <a:rPr sz="600" dirty="0"/>
              <a:t> e </a:t>
            </a:r>
            <a:r>
              <a:rPr sz="600" dirty="0" err="1"/>
              <a:t>negadas</a:t>
            </a:r>
            <a:r>
              <a:rPr sz="600" dirty="0"/>
              <a:t>, </a:t>
            </a:r>
            <a:r>
              <a:rPr sz="600" dirty="0" err="1"/>
              <a:t>usuário</a:t>
            </a:r>
            <a:r>
              <a:rPr sz="600" dirty="0"/>
              <a:t>, data/hora para </a:t>
            </a:r>
            <a:r>
              <a:rPr sz="600" dirty="0" err="1"/>
              <a:t>análise</a:t>
            </a:r>
            <a:r>
              <a:rPr sz="600" dirty="0"/>
              <a:t> de </a:t>
            </a:r>
            <a:r>
              <a:rPr sz="600" dirty="0" err="1"/>
              <a:t>risco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</a:t>
            </a:r>
            <a:r>
              <a:rPr sz="800" dirty="0"/>
              <a:t> </a:t>
            </a:r>
            <a:r>
              <a:rPr sz="800" dirty="0" err="1"/>
              <a:t>Etapas</a:t>
            </a:r>
            <a:r>
              <a:rPr sz="800" dirty="0"/>
              <a:t> </a:t>
            </a:r>
            <a:r>
              <a:rPr sz="800" dirty="0" err="1"/>
              <a:t>Preservadas</a:t>
            </a:r>
            <a:r>
              <a:rPr sz="800" dirty="0"/>
              <a:t> (3 a 5)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 err="1"/>
              <a:t>Manutenção</a:t>
            </a:r>
            <a:r>
              <a:rPr sz="600" dirty="0"/>
              <a:t> integral do Sanity Check de Supply Chain Local, </a:t>
            </a:r>
            <a:r>
              <a:rPr sz="600" dirty="0" err="1"/>
              <a:t>fábrica</a:t>
            </a:r>
            <a:r>
              <a:rPr sz="600" dirty="0"/>
              <a:t> e </a:t>
            </a:r>
            <a:r>
              <a:rPr sz="600" dirty="0" err="1"/>
              <a:t>logística</a:t>
            </a:r>
            <a:r>
              <a:rPr sz="600" dirty="0"/>
              <a:t> global.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/>
              <a:t>Pré-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Obrigatórios</a:t>
            </a:r>
            <a:r>
              <a:rPr dirty="0"/>
              <a:t> de </a:t>
            </a:r>
            <a:r>
              <a:rPr dirty="0" err="1"/>
              <a:t>Governança</a:t>
            </a:r>
            <a:r>
              <a:rPr dirty="0"/>
              <a:t> Antes da </a:t>
            </a:r>
            <a:r>
              <a:rPr dirty="0" err="1"/>
              <a:t>Configuração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1. </a:t>
            </a: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Autorização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Definição</a:t>
            </a:r>
            <a:r>
              <a:rPr dirty="0"/>
              <a:t> formal de </a:t>
            </a:r>
            <a:r>
              <a:rPr dirty="0" err="1"/>
              <a:t>limite</a:t>
            </a:r>
            <a:r>
              <a:rPr dirty="0"/>
              <a:t> </a:t>
            </a:r>
            <a:r>
              <a:rPr dirty="0" err="1"/>
              <a:t>mínimo</a:t>
            </a:r>
            <a:r>
              <a:rPr lang="pt-BR" dirty="0"/>
              <a:t> para efetuar alterações no valor total por SKU contido no </a:t>
            </a:r>
            <a:r>
              <a:rPr lang="pt-BR" dirty="0" err="1"/>
              <a:t>forecast</a:t>
            </a:r>
            <a:r>
              <a:rPr lang="pt-BR" dirty="0"/>
              <a:t> gerado pela automação do AERA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48640" y="2487168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2. Fonte </a:t>
            </a:r>
            <a:r>
              <a:rPr dirty="0" err="1"/>
              <a:t>Financeira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Identificação</a:t>
            </a:r>
            <a:r>
              <a:rPr dirty="0"/>
              <a:t> da</a:t>
            </a:r>
            <a:r>
              <a:rPr lang="pt-BR" dirty="0"/>
              <a:t> última</a:t>
            </a:r>
            <a:r>
              <a:rPr dirty="0"/>
              <a:t> </a:t>
            </a:r>
            <a:r>
              <a:rPr dirty="0" err="1"/>
              <a:t>versão</a:t>
            </a:r>
            <a:r>
              <a:rPr dirty="0"/>
              <a:t> </a:t>
            </a:r>
            <a:r>
              <a:rPr dirty="0" err="1"/>
              <a:t>aprovada</a:t>
            </a:r>
            <a:r>
              <a:rPr dirty="0"/>
              <a:t> no SAP Analytics Cloud Planning, </a:t>
            </a:r>
            <a:r>
              <a:rPr dirty="0" err="1"/>
              <a:t>responsável</a:t>
            </a:r>
            <a:r>
              <a:rPr dirty="0"/>
              <a:t> de </a:t>
            </a:r>
            <a:r>
              <a:rPr dirty="0" err="1"/>
              <a:t>publicação</a:t>
            </a:r>
            <a:r>
              <a:rPr dirty="0"/>
              <a:t> e </a:t>
            </a:r>
            <a:r>
              <a:rPr dirty="0" err="1"/>
              <a:t>tratamento</a:t>
            </a:r>
            <a:r>
              <a:rPr dirty="0"/>
              <a:t> de dados </a:t>
            </a:r>
            <a:r>
              <a:rPr dirty="0" err="1"/>
              <a:t>ausentes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19856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3. </a:t>
            </a:r>
            <a:r>
              <a:rPr dirty="0" err="1"/>
              <a:t>Ajustes</a:t>
            </a:r>
            <a:r>
              <a:rPr dirty="0"/>
              <a:t>, Auditoria e </a:t>
            </a:r>
            <a:r>
              <a:rPr dirty="0" err="1"/>
              <a:t>Acessos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/>
              <a:t>Campos </a:t>
            </a:r>
            <a:r>
              <a:rPr dirty="0" err="1"/>
              <a:t>obrigatórios</a:t>
            </a:r>
            <a:r>
              <a:rPr dirty="0"/>
              <a:t> (valor, </a:t>
            </a:r>
            <a:r>
              <a:rPr dirty="0" err="1"/>
              <a:t>justificativa</a:t>
            </a:r>
            <a:r>
              <a:rPr dirty="0"/>
              <a:t>, </a:t>
            </a:r>
            <a:r>
              <a:rPr dirty="0" err="1"/>
              <a:t>comentário</a:t>
            </a:r>
            <a:r>
              <a:rPr dirty="0"/>
              <a:t>), </a:t>
            </a:r>
            <a:r>
              <a:rPr dirty="0" err="1"/>
              <a:t>retenção</a:t>
            </a:r>
            <a:r>
              <a:rPr dirty="0"/>
              <a:t> </a:t>
            </a:r>
            <a:r>
              <a:rPr dirty="0" err="1"/>
              <a:t>histórica</a:t>
            </a:r>
            <a:r>
              <a:rPr dirty="0"/>
              <a:t> completa e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perfis</a:t>
            </a:r>
            <a:r>
              <a:rPr dirty="0"/>
              <a:t> </a:t>
            </a:r>
            <a:r>
              <a:rPr dirty="0" err="1"/>
              <a:t>autorizados</a:t>
            </a:r>
            <a:r>
              <a:rPr dirty="0"/>
              <a:t> no AERA.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52544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4. </a:t>
            </a:r>
            <a:r>
              <a:rPr dirty="0" err="1"/>
              <a:t>Saída</a:t>
            </a:r>
            <a:r>
              <a:rPr dirty="0"/>
              <a:t> para Sanity Check (Etapa 3)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lang="pt-BR" dirty="0"/>
              <a:t>Verificação do valor proposto no </a:t>
            </a:r>
            <a:r>
              <a:rPr lang="pt-BR" dirty="0" err="1"/>
              <a:t>forecast</a:t>
            </a:r>
            <a:r>
              <a:rPr lang="pt-BR" dirty="0"/>
              <a:t> final em comparação com os valores históricos de venda para cada SKU. 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lang="pt-BR" dirty="0"/>
              <a:t>Exemplo: historicamente a venda de uma SKU flutua entre 1000 e 1200 e o </a:t>
            </a:r>
            <a:r>
              <a:rPr lang="pt-BR" dirty="0" err="1"/>
              <a:t>forecast</a:t>
            </a:r>
            <a:r>
              <a:rPr lang="pt-BR" dirty="0"/>
              <a:t> está em 25000.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Plano de Execução Sequencial em 6 Fases Garante Simulação e Entrada Segura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1: Dados &amp; </a:t>
            </a:r>
            <a:r>
              <a:rPr dirty="0" err="1"/>
              <a:t>Ambiente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Carga do plano </a:t>
            </a:r>
            <a:r>
              <a:rPr dirty="0" err="1"/>
              <a:t>financeiro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Carga do histórico de vendas por SKU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Validação dos dados carregados para cada SKU</a:t>
            </a:r>
            <a:br>
              <a:rPr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2: </a:t>
            </a:r>
            <a:r>
              <a:rPr dirty="0" err="1"/>
              <a:t>Configuração</a:t>
            </a:r>
            <a:r>
              <a:rPr dirty="0"/>
              <a:t> AERA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Implementação da automação no AERA 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Criação de f</a:t>
            </a:r>
            <a:r>
              <a:rPr dirty="0" err="1"/>
              <a:t>ormulário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Inclusão da</a:t>
            </a:r>
            <a:r>
              <a:rPr dirty="0"/>
              <a:t> </a:t>
            </a:r>
            <a:r>
              <a:rPr dirty="0" err="1"/>
              <a:t>regra</a:t>
            </a:r>
            <a:r>
              <a:rPr dirty="0"/>
              <a:t> </a:t>
            </a:r>
            <a:r>
              <a:rPr lang="pt-BR" dirty="0"/>
              <a:t>de </a:t>
            </a:r>
            <a:r>
              <a:rPr dirty="0" err="1"/>
              <a:t>limite</a:t>
            </a:r>
            <a:r>
              <a:rPr lang="pt-BR" dirty="0"/>
              <a:t> por SKU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Criação das funcionalidades</a:t>
            </a:r>
            <a:r>
              <a:rPr dirty="0"/>
              <a:t> de auditoria.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3: Teste </a:t>
            </a:r>
            <a:r>
              <a:rPr lang="pt-BR" dirty="0"/>
              <a:t>funcional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Bloqueio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Bloqueio</a:t>
            </a:r>
            <a:r>
              <a:rPr dirty="0"/>
              <a:t> de </a:t>
            </a:r>
            <a:r>
              <a:rPr lang="pt-BR" dirty="0"/>
              <a:t>alterações abaixo do </a:t>
            </a:r>
            <a:r>
              <a:rPr dirty="0" err="1"/>
              <a:t>limite</a:t>
            </a:r>
            <a:r>
              <a:rPr lang="pt-BR"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Geração </a:t>
            </a:r>
            <a:r>
              <a:rPr dirty="0"/>
              <a:t>de </a:t>
            </a:r>
            <a:r>
              <a:rPr dirty="0" err="1"/>
              <a:t>relatório</a:t>
            </a:r>
            <a:r>
              <a:rPr lang="pt-BR" dirty="0"/>
              <a:t> de alterações</a:t>
            </a:r>
            <a:r>
              <a:rPr dirty="0"/>
              <a:t> </a:t>
            </a:r>
            <a:r>
              <a:rPr lang="pt-BR" dirty="0"/>
              <a:t>para</a:t>
            </a:r>
            <a:r>
              <a:rPr dirty="0"/>
              <a:t> auditoria.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4: </a:t>
            </a:r>
            <a:r>
              <a:rPr dirty="0" err="1"/>
              <a:t>Simulação</a:t>
            </a:r>
            <a:r>
              <a:rPr lang="pt-BR" dirty="0"/>
              <a:t> completa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Execução</a:t>
            </a:r>
            <a:r>
              <a:rPr dirty="0"/>
              <a:t> de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no AERA.</a:t>
            </a:r>
            <a:br>
              <a:rPr dirty="0"/>
            </a:br>
            <a:r>
              <a:rPr dirty="0"/>
              <a:t>• </a:t>
            </a:r>
            <a:r>
              <a:rPr dirty="0" err="1"/>
              <a:t>Validação</a:t>
            </a:r>
            <a:r>
              <a:rPr dirty="0"/>
              <a:t> da </a:t>
            </a:r>
            <a:r>
              <a:rPr dirty="0" err="1"/>
              <a:t>saída</a:t>
            </a:r>
            <a:r>
              <a:rPr dirty="0"/>
              <a:t> para o Sanity Check.</a:t>
            </a:r>
            <a:br>
              <a:rPr dirty="0"/>
            </a:br>
            <a:r>
              <a:rPr dirty="0"/>
              <a:t>• </a:t>
            </a:r>
            <a:r>
              <a:rPr dirty="0" err="1"/>
              <a:t>Aprovação</a:t>
            </a:r>
            <a:r>
              <a:rPr dirty="0"/>
              <a:t> d</a:t>
            </a:r>
            <a:r>
              <a:rPr lang="pt-BR" dirty="0"/>
              <a:t>o processo revisado por </a:t>
            </a:r>
            <a:r>
              <a:rPr dirty="0"/>
              <a:t>Marketing/Supply/Fin.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35803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5: </a:t>
            </a:r>
            <a:r>
              <a:rPr dirty="0" err="1"/>
              <a:t>Treinamento</a:t>
            </a:r>
            <a:r>
              <a:rPr dirty="0"/>
              <a:t> &amp; Go-Live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Capacitação</a:t>
            </a:r>
            <a:r>
              <a:rPr dirty="0"/>
              <a:t> de </a:t>
            </a:r>
            <a:r>
              <a:rPr lang="pt-BR" dirty="0"/>
              <a:t>stakeholders envolvidos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Comunicação</a:t>
            </a:r>
            <a:r>
              <a:rPr dirty="0"/>
              <a:t> do </a:t>
            </a:r>
            <a:r>
              <a:rPr dirty="0" err="1"/>
              <a:t>calendário</a:t>
            </a:r>
            <a:r>
              <a:rPr lang="pt-BR" dirty="0"/>
              <a:t> de implementação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Acompanhamento</a:t>
            </a:r>
            <a:r>
              <a:rPr dirty="0"/>
              <a:t> do </a:t>
            </a:r>
            <a:r>
              <a:rPr lang="pt-BR" dirty="0"/>
              <a:t>processo em produção por 6 meses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6: </a:t>
            </a:r>
            <a:r>
              <a:rPr dirty="0" err="1"/>
              <a:t>Estabilização</a:t>
            </a:r>
            <a:r>
              <a:rPr dirty="0"/>
              <a:t> &amp; KPIs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Relatório mensais de performance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Monitoração dos níveis</a:t>
            </a:r>
            <a:r>
              <a:rPr dirty="0"/>
              <a:t> de D&amp;O</a:t>
            </a:r>
            <a:r>
              <a:rPr lang="pt-BR" dirty="0"/>
              <a:t>, </a:t>
            </a:r>
            <a:r>
              <a:rPr dirty="0"/>
              <a:t>Lost Sales</a:t>
            </a:r>
            <a:r>
              <a:rPr lang="pt-BR" dirty="0"/>
              <a:t> e níveis de estoque.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Comparação</a:t>
            </a:r>
            <a:r>
              <a:rPr dirty="0"/>
              <a:t> contra baseline.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Avaliação dos gaps mais relevantes para entender as suas causas para melhoria contínua do processo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Matriz de Gestão de Riscos Prevê Mitigações e Protocolo de Contingência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420758"/>
              </p:ext>
            </p:extLst>
          </p:nvPr>
        </p:nvGraphicFramePr>
        <p:xfrm>
          <a:off x="548640" y="1554480"/>
          <a:ext cx="11094415" cy="227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1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Evento de Risco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rPr dirty="0" err="1"/>
                        <a:t>Ação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Prevenção</a:t>
                      </a:r>
                      <a:endParaRPr dirty="0"/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Condição de Superação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Ação se Não Atendida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Resistência à mudança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Alinhamento entre stakeholders </a:t>
                      </a:r>
                    </a:p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Apresentação dos benefícios da implementação do processo.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Definir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atuação visando a remoção de barreiras à implementação.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Acionamento do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coordenação com direção das áreas dos stakeholders.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Subdimensionamento da demanda por conta do baseline ser baseado no plano financeiro, que tende a ser mais conservador.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Mudança do plano financeiro para ficar alinhado com a expectativa de demanda realista compensada por estimativa conservadora em produtos específicos que que tenham justificativa.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Cultura de que financial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e </a:t>
                      </a:r>
                      <a:r>
                        <a:rPr lang="pt-BR" dirty="0" err="1"/>
                        <a:t>demand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devem andar juntos.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Gestão da situação pela equipe de marketing com o comercial.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391525"/>
            <a:ext cx="11094415" cy="14558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r>
              <a:rPr dirty="0"/>
              <a:t>PROTOCOLO DE CONTINGÊNCIA OPERACIONAL:</a:t>
            </a:r>
            <a:endParaRPr lang="pt-BR" dirty="0"/>
          </a:p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endParaRPr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/>
              <a:t>Em </a:t>
            </a:r>
            <a:r>
              <a:rPr dirty="0" err="1"/>
              <a:t>caso</a:t>
            </a:r>
            <a:r>
              <a:rPr dirty="0"/>
              <a:t> de </a:t>
            </a:r>
            <a:r>
              <a:rPr dirty="0" err="1"/>
              <a:t>falha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antes da </a:t>
            </a:r>
            <a:r>
              <a:rPr dirty="0" err="1"/>
              <a:t>consolidação</a:t>
            </a:r>
            <a:r>
              <a:rPr dirty="0"/>
              <a:t> do forecast, o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afetado</a:t>
            </a:r>
            <a:r>
              <a:rPr dirty="0"/>
              <a:t> </a:t>
            </a:r>
            <a:r>
              <a:rPr dirty="0" err="1"/>
              <a:t>retorna</a:t>
            </a:r>
            <a:r>
              <a:rPr dirty="0"/>
              <a:t> </a:t>
            </a:r>
            <a:r>
              <a:rPr dirty="0" err="1"/>
              <a:t>temporariamente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legado</a:t>
            </a:r>
            <a:r>
              <a:rPr dirty="0"/>
              <a:t> das </a:t>
            </a:r>
            <a:r>
              <a:rPr dirty="0" err="1"/>
              <a:t>etapas</a:t>
            </a:r>
            <a:r>
              <a:rPr dirty="0"/>
              <a:t> 1 e 2.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registrados</a:t>
            </a:r>
            <a:r>
              <a:rPr dirty="0"/>
              <a:t> no AERA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totalmente</a:t>
            </a:r>
            <a:r>
              <a:rPr dirty="0"/>
              <a:t> </a:t>
            </a:r>
            <a:r>
              <a:rPr dirty="0" err="1"/>
              <a:t>mantidos</a:t>
            </a:r>
            <a:r>
              <a:rPr dirty="0"/>
              <a:t> para auditoria e </a:t>
            </a:r>
            <a:r>
              <a:rPr dirty="0" err="1"/>
              <a:t>diagnóstico</a:t>
            </a:r>
            <a:r>
              <a:rPr dirty="0"/>
              <a:t>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/>
              <a:t>As </a:t>
            </a:r>
            <a:r>
              <a:rPr dirty="0" err="1"/>
              <a:t>etapas</a:t>
            </a:r>
            <a:r>
              <a:rPr dirty="0"/>
              <a:t> 3 a 5 do Supply Chain e Fábricas </a:t>
            </a:r>
            <a:r>
              <a:rPr dirty="0" err="1"/>
              <a:t>permanecem</a:t>
            </a:r>
            <a:r>
              <a:rPr dirty="0"/>
              <a:t> 100% </a:t>
            </a:r>
            <a:r>
              <a:rPr dirty="0" err="1"/>
              <a:t>inalteradas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2286</Words>
  <Application>Microsoft Office PowerPoint</Application>
  <PresentationFormat>Widescreen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1</cp:revision>
  <dcterms:created xsi:type="dcterms:W3CDTF">2013-01-27T09:14:16Z</dcterms:created>
  <dcterms:modified xsi:type="dcterms:W3CDTF">2026-10-21T21:13:18Z</dcterms:modified>
  <cp:category/>
</cp:coreProperties>
</file>
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89" autoAdjust="0"/>
  </p:normalViewPr>
  <p:slideViewPr>
    <p:cSldViewPr snapToGrid="0" snapToObjects="1">
      <p:cViewPr varScale="1">
        <p:scale>
          <a:sx n="80" d="100"/>
          <a:sy n="80" d="100"/>
        </p:scale>
        <p:origin x="54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18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1 min 30 s.</a:t>
            </a:r>
            <a:endParaRPr lang="pt-BR"/>
          </a:p>
          <a:p>
            <a:r>
              <a:rPr lang="pt-BR"/>
              <a:t>Bom dia. Este projeto trata do planejamento de demanda de uma indústria farmacêutica com operação local e cadeia global de suprimentos.</a:t>
            </a:r>
            <a:endParaRPr lang="pt-BR"/>
          </a:p>
          <a:p>
            <a:r>
              <a:rPr lang="pt-BR"/>
              <a:t>O foco está nas duas primeiras etapas do forecast no AERA: hoje elas dependem de consolidação e ajustes manuais; no futuro, passam a ter uma proposta inicial automatizada e uma governança formal para ajustes.</a:t>
            </a:r>
            <a:endParaRPr lang="pt-BR"/>
          </a:p>
          <a:p>
            <a:r>
              <a:rPr lang="pt-BR"/>
              <a:t>O objetivo não é alterar toda a cadeia. As etapas posteriores de Supply Chain, fábricas e logística permanecem preservadas. A proposta busca reduzir as perdas por ruptura, ou Lost Sales, e por destruição e obsolescência, ou D&amp;O.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3 min 30 s.</a:t>
            </a:r>
            <a:endParaRPr lang="pt-BR"/>
          </a:p>
          <a:p>
            <a:r>
              <a:rPr lang="pt-BR"/>
              <a:t>O problema resulta da combinação de dois fatores. O primeiro é estrutural: entre o envio do forecast local e a chegada do medicamento ao operador logístico no Brasil, o lead time médio é de cinco meses.</a:t>
            </a:r>
            <a:endParaRPr lang="pt-BR"/>
          </a:p>
          <a:p>
            <a:r>
              <a:rPr lang="pt-BR"/>
              <a:t>Com essa antecedência, uma estimativa inadequada não é corrigida rapidamente. Um volume superestimado pode permanecer em estoque até vencer; um volume subestimado pode gerar falta de produto justamente quando há demanda.</a:t>
            </a:r>
            <a:endParaRPr lang="pt-BR"/>
          </a:p>
          <a:p>
            <a:r>
              <a:rPr lang="pt-BR"/>
              <a:t>O segundo fator é a subjetividade dos ajustes. Marketing busca capturar a oportunidade comercial, enquanto Supply Chain precisa evitar excesso, ruptura e perda financeira. Sem justificativa obrigatória, histórico e critérios formais, o conflito fica pouco rastreável.</a:t>
            </a:r>
            <a:endParaRPr lang="pt-BR"/>
          </a:p>
          <a:p>
            <a:r>
              <a:rPr lang="pt-BR"/>
              <a:t>Portanto, o caso não atribui o problema a uma única área. Ele evidencia uma falha de processo e de governança na construção do forecast, cujos impactos são D&amp;O e Lost Sales.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431ABE2-6A51-6E51-3A94-CD2D995D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ns2:creationId id="{7F6A3060-B223-E74B-23E7-E43DD97A8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ns2:creationId id="{1DCD8119-1301-34A9-1B20-CAF08D9F4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4 min.</a:t>
            </a:r>
            <a:endParaRPr lang="pt-BR"/>
          </a:p>
          <a:p>
            <a:r>
              <a:rPr lang="pt-BR"/>
              <a:t>Este é o mapa AS-IS. Ele mostra o processo completo e deixa explícito onde estão os pontos de atrito; vou percorrê-lo da esquerda para a direita.</a:t>
            </a:r>
            <a:endParaRPr lang="pt-BR"/>
          </a:p>
          <a:p>
            <a:r>
              <a:rPr lang="pt-BR"/>
              <a:t>Na etapa 1, Marketing e Comercial projetam mensalmente as vendas para 24 meses. Na etapa 2, Marketing consolida a previsão e a registra no AERA, podendo aplicar gorduras ou cortes de volume sem uma justificativa formal retida no processo.</a:t>
            </a:r>
            <a:endParaRPr lang="pt-BR"/>
          </a:p>
          <a:p>
            <a:r>
              <a:rPr lang="pt-BR"/>
              <a:t>Em seguida, Supply Chain Local realiza o sanity check contra histórico e plano financeiro, verifica estoques e capacidade, alinha restrições com Marketing e envia os volumes ao Supply Chain Global.</a:t>
            </a:r>
            <a:endParaRPr lang="pt-BR"/>
          </a:p>
          <a:p>
            <a:r>
              <a:rPr lang="pt-BR"/>
              <a:t>As fábricas planejam o atendimento e a produção; por fim, a operação local define logística, conduz o desembaraço e recebe o produto para disponibilizá-lo à venda. Eventos extraordinários podem gerar a busca de alternativas de mitigação.</a:t>
            </a:r>
            <a:endParaRPr lang="pt-BR"/>
          </a:p>
          <a:p>
            <a:r>
              <a:rPr lang="pt-BR"/>
              <a:t>A leitura-chave do AS-IS é que o ponto de dor está antes do sanity check. O gargalo específico não foi localizado no cenário; o que está informado é o lead time total de cinco meses, que amplifica os efeitos de um forecast distorcido.</a:t>
            </a:r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ns2:creationId id="{A4A709AD-599C-915C-A3BC-F66813FF2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ns3:creationId val="2937218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5 min.</a:t>
            </a:r>
            <a:endParaRPr lang="pt-BR"/>
          </a:p>
          <a:p>
            <a:r>
              <a:rPr lang="pt-BR"/>
              <a:t>No TO-BE, preservamos as etapas 3 a 5. A mudança é concentrada nas duas primeiras etapas, exatamente onde o cenário identifica a necessidade de maior objetividade e rastreabilidade.</a:t>
            </a:r>
            <a:endParaRPr lang="pt-BR"/>
          </a:p>
          <a:p>
            <a:r>
              <a:rPr lang="pt-BR"/>
              <a:t>Na nova etapa 1, o AERA gera uma proposta inicial de forecast a partir do plano financeiro aprovado por SKU. Isso cria um ponto de partida comum e reduz a dependência de uma consolidação manual inicial.</a:t>
            </a:r>
            <a:endParaRPr lang="pt-BR"/>
          </a:p>
          <a:p>
            <a:r>
              <a:rPr lang="pt-BR"/>
              <a:t>Na etapa 2, Marketing continua contribuindo com sua leitura do mercado, mas qualquer ajuste material precisa ser solicitado com valor, justificativa e comentário. Assim, a informação comercial é incorporada de forma explícita, em vez de ser aplicada sem registro.</a:t>
            </a:r>
            <a:endParaRPr lang="pt-BR"/>
          </a:p>
          <a:p>
            <a:r>
              <a:rPr lang="pt-BR"/>
              <a:t>A autorização é regida por um limite mínimo definido pelo Supply Chain Global: somente solicitações acima desse limite seguem como ajuste autorizado. As solicitações aprovadas e negadas permanecem registradas no AERA, formando uma trilha de auditoria.</a:t>
            </a:r>
            <a:endParaRPr lang="pt-BR"/>
          </a:p>
          <a:p>
            <a:r>
              <a:rPr lang="pt-BR"/>
              <a:t>O resultado é um forecast consolidado que alimenta o sanity check existente e também permite acompanhar D&amp;O, Lost Sales, riscos e assertividade em relação ao plano financeiro. A governança muda; o fluxo posterior não é redesenhado.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3 min 30 s.</a:t>
            </a:r>
            <a:endParaRPr lang="pt-BR"/>
          </a:p>
          <a:p>
            <a:r>
              <a:rPr lang="pt-BR"/>
              <a:t>Antes de configurar ou colocar a solução em produção, o plano estabelece pré-requisitos de governança. Este é o Gate 0: uma condição de entrada, e não uma fase de desenvolvimento.</a:t>
            </a:r>
            <a:endParaRPr lang="pt-BR"/>
          </a:p>
          <a:p>
            <a:r>
              <a:rPr lang="pt-BR"/>
              <a:t>Primeiro, é preciso formalizar o limite mínimo de autorização e quem é responsável por defini-lo. Segundo, é necessário identificar a versão aprovada do plano financeiro por SKU, seu responsável pela publicação e o tratamento para dados ausentes.</a:t>
            </a:r>
            <a:endParaRPr lang="pt-BR"/>
          </a:p>
          <a:p>
            <a:r>
              <a:rPr lang="pt-BR"/>
              <a:t>Terceiro, o AERA precisa ter campos obrigatórios para valor, justificativa e comentário, retenção do histórico e matriz de perfis autorizados. Sem esses controles, o novo processo não entrega rastreabilidade.</a:t>
            </a:r>
            <a:endParaRPr lang="pt-BR"/>
          </a:p>
          <a:p>
            <a:r>
              <a:rPr lang="pt-BR"/>
              <a:t>Por fim, a saída para a etapa 3 deve permitir a comparação do forecast final com o histórico de vendas por SKU. O exemplo no slide ilustra a função do sanity check: identificar valores que merecem investigação antes que gerem um compromisso de abastecimento.</a:t>
            </a:r>
            <a:endParaRPr lang="pt-BR"/>
          </a:p>
          <a:p>
            <a:r>
              <a:rPr lang="pt-BR"/>
              <a:t>A mensagem é simples: não faz sentido automatizar uma regra que ainda não está acordada, nem usar uma base financeira cuja versão e qualidade não estejam controladas.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4 min 30 s.</a:t>
            </a:r>
            <a:endParaRPr lang="pt-BR"/>
          </a:p>
          <a:p>
            <a:r>
              <a:rPr lang="pt-BR"/>
              <a:t>A implantação foi organizada em seis fases sequenciais para reduzir o risco de colocar uma mudança de processo em produção sem validação.</a:t>
            </a:r>
            <a:endParaRPr lang="pt-BR"/>
          </a:p>
          <a:p>
            <a:r>
              <a:rPr lang="pt-BR"/>
              <a:t>A primeira fase prepara dados e ambiente: plano financeiro por SKU, histórico de vendas e validação das cargas. A segunda configura o AERA, incluindo a automação, o formulário de ajustes, a regra de limite e a auditoria.</a:t>
            </a:r>
            <a:endParaRPr lang="pt-BR"/>
          </a:p>
          <a:p>
            <a:r>
              <a:rPr lang="pt-BR"/>
              <a:t>Na terceira fase, testamos os controles: bloqueio de ajustes sem justificativa, bloqueio de alterações que não atendam ao limite e emissão do relatório de auditoria.</a:t>
            </a:r>
            <a:endParaRPr lang="pt-BR"/>
          </a:p>
          <a:p>
            <a:r>
              <a:rPr lang="pt-BR"/>
              <a:t>A quarta fase é a simulação ponta a ponta. Ela verifica se o forecast revisado chega corretamente ao sanity check e exige aprovação conjunta de Marketing, Supply Chain e Finanças antes do go-live.</a:t>
            </a:r>
            <a:endParaRPr lang="pt-BR"/>
          </a:p>
          <a:p>
            <a:r>
              <a:rPr lang="pt-BR"/>
              <a:t>Depois vêm treinamento e entrada em produção, com comunicação do calendário e acompanhamento. A última fase estabiliza o processo e mede D&amp;O, Lost Sales, estoque e aderência ao baseline, para orientar melhoria contínua.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Tempo sugerido: 3 min.</a:t>
            </a:r>
            <a:endParaRPr lang="pt-BR"/>
          </a:p>
          <a:p>
            <a:r>
              <a:rPr lang="pt-BR"/>
              <a:t>Encerramos com os riscos e a contingência. O primeiro risco é a resistência à mudança: a prevenção é alinhar stakeholders e explicitar os benefícios; se a adesão não for suficiente, o sponsor atua para remover barreiras.</a:t>
            </a:r>
            <a:endParaRPr lang="pt-BR"/>
          </a:p>
          <a:p>
            <a:r>
              <a:rPr lang="pt-BR"/>
              <a:t>O segundo risco é um baseline financeiro excessivamente conservador. A prevenção é manter os forecasts financeiro e de demanda alinhados, permitindo justificativas específicas quando a expectativa realista de demanda exigir ajuste.</a:t>
            </a:r>
            <a:endParaRPr lang="pt-BR"/>
          </a:p>
          <a:p>
            <a:r>
              <a:rPr lang="pt-BR"/>
              <a:t>Também existe uma contingência operacional clara. Se houver falha crítica antes da consolidação do forecast, o ciclo afetado retorna temporariamente ao fluxo legado das etapas 1 e 2. Os dados já registrados no AERA são preservados para auditoria e diagnóstico.</a:t>
            </a:r>
            <a:endParaRPr lang="pt-BR"/>
          </a:p>
          <a:p>
            <a:r>
              <a:rPr lang="pt-BR"/>
              <a:t>Mesmo nesse cenário, as etapas 3 a 5 seguem inalteradas. Assim, o projeto protege a continuidade operacional enquanto testa e estabiliza a nova governança.</a:t>
            </a:r>
            <a:endParaRPr lang="pt-BR"/>
          </a:p>
          <a:p>
            <a:r>
              <a:rPr lang="pt-BR"/>
              <a:t>Em síntese: a proposta não elimina o julgamento de Marketing; ela o torna justificável, auditável e compatível com as restrições de Supply Chain. Obrigado; ficamos à disposição para as perguntas.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t>PROJETO DE GESTÃO DE OPERAÇÕES E CADEIA DE SUPRIMENTOS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Otimização e Automação do Fluxo de Forecast no Sistema AERA</a:t>
            </a:r>
          </a:p>
          <a:p>
            <a:pPr>
              <a:spcAft>
                <a:spcPts val="2800"/>
              </a:spcAft>
              <a:defRPr sz="1800">
                <a:solidFill>
                  <a:srgbClr val="DCE6F1"/>
                </a:solidFill>
                <a:latin typeface="Verdana"/>
              </a:defRPr>
            </a:pPr>
            <a:r>
              <a:t>Redesenho do Processo de Demanda, Mapeamento AS-IS/TO-BE e Plano de Implantação</a:t>
            </a:r>
          </a:p>
          <a:p>
            <a:pPr>
              <a:defRPr sz="1300">
                <a:solidFill>
                  <a:srgbClr val="AABBCC"/>
                </a:solidFill>
                <a:latin typeface="Verdana"/>
              </a:defRPr>
            </a:pPr>
            <a:r>
              <a:t>Docentes: Prof. Dr. Alvair Silveira Torres Jr. &amp; Profa. Dra. Marisangela (2026)</a:t>
            </a:r>
            <a:br/>
            <a:r>
              <a:t>Indústria Farmacêutica — Unidade Brasil &amp; Operações Globais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Conflito Comercial vs. Supply Chain e Lead Time de 5 Meses Geram Elevadas Perdas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t>GARGALO CRÍTICO 1</a:t>
            </a:r>
          </a:p>
          <a:p>
            <a:pPr>
              <a:spcAft>
                <a:spcPts val="1000"/>
              </a:spcAft>
              <a:defRPr sz="3600" b="1">
                <a:solidFill>
                  <a:srgbClr val="1B2A4A"/>
                </a:solidFill>
                <a:latin typeface="Georgia"/>
              </a:defRPr>
            </a:pPr>
            <a:r>
              <a:t>5 Meses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t>Lead Time Médio Global</a:t>
            </a:r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t>• Transcurso entre o envio do forecast pelas sucursais locais e a chegada efetiva do medicamento ao operador logístico no Brasil.</a:t>
            </a:r>
            <a:br/>
            <a:r>
              <a:t>• Longa janela exige alta precisão do planejamento de vendas, tornando qualquer distorção altamente amplificada.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GARGALO CRÍTICO 2</a:t>
            </a:r>
          </a:p>
          <a:p>
            <a:pPr>
              <a:spcAft>
                <a:spcPts val="1000"/>
              </a:spcAft>
              <a:defRPr sz="3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Subjetividade</a:t>
            </a:r>
            <a:endParaRPr dirty="0"/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rPr dirty="0" err="1"/>
              <a:t>Ajustes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endParaRPr dirty="0"/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Conflito</a:t>
            </a:r>
            <a:r>
              <a:rPr dirty="0"/>
              <a:t> de interesses: Marketing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maximizar</a:t>
            </a:r>
            <a:r>
              <a:rPr dirty="0"/>
              <a:t> volume e </a:t>
            </a:r>
            <a:r>
              <a:rPr dirty="0" err="1"/>
              <a:t>metas</a:t>
            </a:r>
            <a:r>
              <a:rPr dirty="0"/>
              <a:t> </a:t>
            </a:r>
            <a:r>
              <a:rPr dirty="0" err="1"/>
              <a:t>Comerciais</a:t>
            </a:r>
            <a:r>
              <a:rPr dirty="0"/>
              <a:t>, </a:t>
            </a:r>
            <a:r>
              <a:rPr dirty="0" err="1"/>
              <a:t>inserindo</a:t>
            </a:r>
            <a:r>
              <a:rPr dirty="0"/>
              <a:t> '</a:t>
            </a:r>
            <a:r>
              <a:rPr dirty="0" err="1"/>
              <a:t>gordura</a:t>
            </a:r>
            <a:r>
              <a:rPr dirty="0"/>
              <a:t>'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realizando</a:t>
            </a:r>
            <a:r>
              <a:rPr dirty="0"/>
              <a:t> cortes </a:t>
            </a:r>
            <a:r>
              <a:rPr dirty="0" err="1"/>
              <a:t>arbitrários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Ausência</a:t>
            </a:r>
            <a:r>
              <a:rPr dirty="0"/>
              <a:t> de </a:t>
            </a:r>
            <a:r>
              <a:rPr dirty="0" err="1"/>
              <a:t>critérios</a:t>
            </a:r>
            <a:r>
              <a:rPr dirty="0"/>
              <a:t> </a:t>
            </a:r>
            <a:r>
              <a:rPr dirty="0" err="1"/>
              <a:t>formais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retenção</a:t>
            </a:r>
            <a:r>
              <a:rPr dirty="0"/>
              <a:t> de histórico de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dificulta</a:t>
            </a:r>
            <a:r>
              <a:rPr dirty="0"/>
              <a:t> a auditoria e </a:t>
            </a:r>
            <a:r>
              <a:rPr dirty="0" err="1"/>
              <a:t>gera</a:t>
            </a:r>
            <a:r>
              <a:rPr dirty="0"/>
              <a:t> </a:t>
            </a:r>
            <a:r>
              <a:rPr dirty="0" err="1"/>
              <a:t>desalinhamento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100" b="1">
                <a:solidFill>
                  <a:srgbClr val="007A87"/>
                </a:solidFill>
                <a:latin typeface="Verdana"/>
              </a:defRPr>
            </a:pPr>
            <a:r>
              <a:t>IMPACTOS NO NEGÓCIO</a:t>
            </a:r>
          </a:p>
          <a:p>
            <a:pPr>
              <a:spcAft>
                <a:spcPts val="1000"/>
              </a:spcAft>
              <a:defRPr sz="3000" b="1">
                <a:solidFill>
                  <a:srgbClr val="1B2A4A"/>
                </a:solidFill>
                <a:latin typeface="Georgia"/>
              </a:defRPr>
            </a:pPr>
            <a:r>
              <a:t>D&amp;O e Lost Sales</a:t>
            </a:r>
          </a:p>
          <a:p>
            <a:pPr>
              <a:spcAft>
                <a:spcPts val="1000"/>
              </a:spcAft>
              <a:defRPr sz="1400" b="1">
                <a:solidFill>
                  <a:srgbClr val="1A2530"/>
                </a:solidFill>
                <a:latin typeface="Verdana"/>
              </a:defRPr>
            </a:pPr>
            <a:r>
              <a:t>Desperdício e Ruptura</a:t>
            </a:r>
          </a:p>
          <a:p>
            <a:pPr>
              <a:defRPr sz="1200">
                <a:solidFill>
                  <a:srgbClr val="5A6B7C"/>
                </a:solidFill>
                <a:latin typeface="Verdana"/>
              </a:defRPr>
            </a:pPr>
            <a:r>
              <a:t>• Lost Sales: Perda de receita direta por falta de produto frente à demanda real de mercado.</a:t>
            </a:r>
            <a:br/>
            <a:r>
              <a:t>• D&amp;O (Destruição &amp; Obsolescência): Prejuízo financeiro por descarte de medicamentos vencidos estocados em excesso.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B2CCA-186D-D716-A883-5790787F2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6B7C6-1ED8-DA2D-F501-E988D536926A}"/>
              </a:ext>
            </a:extLst>
          </p:cNvPr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C93F6-496E-870C-3F85-E164A6553429}"/>
              </a:ext>
            </a:extLst>
          </p:cNvPr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Mapeamento</a:t>
            </a:r>
            <a:r>
              <a:rPr dirty="0"/>
              <a:t> AS-IS </a:t>
            </a:r>
            <a:r>
              <a:rPr dirty="0" err="1"/>
              <a:t>Ilustra</a:t>
            </a:r>
            <a:r>
              <a:rPr dirty="0"/>
              <a:t> o </a:t>
            </a:r>
            <a:r>
              <a:rPr dirty="0" err="1"/>
              <a:t>Fluxo</a:t>
            </a:r>
            <a:r>
              <a:rPr dirty="0"/>
              <a:t> Manual e </a:t>
            </a:r>
            <a:r>
              <a:rPr dirty="0" err="1"/>
              <a:t>os</a:t>
            </a:r>
            <a:r>
              <a:rPr dirty="0"/>
              <a:t> Pontos de </a:t>
            </a:r>
            <a:r>
              <a:rPr dirty="0" err="1"/>
              <a:t>Atrito</a:t>
            </a:r>
            <a:r>
              <a:rPr dirty="0"/>
              <a:t> </a:t>
            </a:r>
            <a:r>
              <a:rPr dirty="0" err="1"/>
              <a:t>Interdepartamental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32C1AF-C8B2-53F6-6125-CB714554C6B3}"/>
              </a:ext>
            </a:extLst>
          </p:cNvPr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6497697-BAA2-DA04-B6C5-0D17E0CC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56" y="1497023"/>
            <a:ext cx="9806688" cy="5040937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DC52ED-3482-C78D-3F53-FF4B31363513}"/>
              </a:ext>
            </a:extLst>
          </p:cNvPr>
          <p:cNvSpPr/>
          <p:nvPr/>
        </p:nvSpPr>
        <p:spPr>
          <a:xfrm>
            <a:off x="10247044" y="1645920"/>
            <a:ext cx="1396011" cy="49412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lang="pt-BR" sz="800" dirty="0"/>
              <a:t>• Etapa 1 — Coleta Comercial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coleta a </a:t>
            </a:r>
            <a:r>
              <a:rPr sz="600" dirty="0" err="1"/>
              <a:t>expectativa</a:t>
            </a:r>
            <a:r>
              <a:rPr sz="600" dirty="0"/>
              <a:t> mensal de </a:t>
            </a:r>
            <a:r>
              <a:rPr sz="600" dirty="0" err="1"/>
              <a:t>vendas</a:t>
            </a:r>
            <a:r>
              <a:rPr sz="600" dirty="0"/>
              <a:t> com </a:t>
            </a:r>
            <a:r>
              <a:rPr sz="600" dirty="0" err="1"/>
              <a:t>Comercial</a:t>
            </a:r>
            <a:r>
              <a:rPr sz="600" dirty="0"/>
              <a:t> para </a:t>
            </a:r>
            <a:r>
              <a:rPr sz="600" dirty="0" err="1"/>
              <a:t>projeção</a:t>
            </a:r>
            <a:r>
              <a:rPr sz="600" dirty="0"/>
              <a:t> de 24 meses.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2 — </a:t>
            </a:r>
            <a:r>
              <a:rPr sz="800" dirty="0" err="1"/>
              <a:t>Ajustes</a:t>
            </a:r>
            <a:r>
              <a:rPr sz="800" dirty="0"/>
              <a:t> </a:t>
            </a:r>
            <a:r>
              <a:rPr sz="800" dirty="0" err="1"/>
              <a:t>Manuais</a:t>
            </a:r>
            <a:endParaRPr sz="8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</a:t>
            </a:r>
            <a:r>
              <a:rPr sz="600" dirty="0" err="1"/>
              <a:t>consolida</a:t>
            </a:r>
            <a:r>
              <a:rPr sz="600" dirty="0"/>
              <a:t> dados no AERA </a:t>
            </a:r>
            <a:r>
              <a:rPr sz="600" dirty="0" err="1"/>
              <a:t>aplicandogorduras</a:t>
            </a:r>
            <a:r>
              <a:rPr sz="600" dirty="0"/>
              <a:t> </a:t>
            </a:r>
            <a:r>
              <a:rPr sz="600" dirty="0" err="1"/>
              <a:t>ou</a:t>
            </a:r>
            <a:r>
              <a:rPr sz="600" dirty="0"/>
              <a:t> cortes </a:t>
            </a:r>
            <a:r>
              <a:rPr sz="600" dirty="0" err="1"/>
              <a:t>subjetivos</a:t>
            </a:r>
            <a:r>
              <a:rPr sz="600" dirty="0"/>
              <a:t> </a:t>
            </a:r>
            <a:r>
              <a:rPr sz="600" dirty="0" err="1"/>
              <a:t>sem</a:t>
            </a:r>
            <a:r>
              <a:rPr sz="600" dirty="0"/>
              <a:t> </a:t>
            </a:r>
            <a:r>
              <a:rPr sz="600" dirty="0" err="1"/>
              <a:t>registro</a:t>
            </a:r>
            <a:r>
              <a:rPr sz="600" dirty="0"/>
              <a:t> formal de </a:t>
            </a:r>
            <a:r>
              <a:rPr sz="600" dirty="0" err="1"/>
              <a:t>justificativa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3 — Sanity Check Local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Supply Chain Local </a:t>
            </a:r>
            <a:r>
              <a:rPr sz="600" dirty="0" err="1"/>
              <a:t>consolida</a:t>
            </a:r>
            <a:r>
              <a:rPr sz="600" dirty="0"/>
              <a:t> e </a:t>
            </a:r>
            <a:r>
              <a:rPr sz="600" dirty="0" err="1"/>
              <a:t>compara</a:t>
            </a:r>
            <a:r>
              <a:rPr sz="600" dirty="0"/>
              <a:t> com o Plano </a:t>
            </a:r>
            <a:r>
              <a:rPr sz="600" dirty="0" err="1"/>
              <a:t>Financeiro</a:t>
            </a:r>
            <a:r>
              <a:rPr sz="600" dirty="0"/>
              <a:t> (SAP Analytics Cloud Planning).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4 — </a:t>
            </a:r>
            <a:r>
              <a:rPr sz="800" dirty="0" err="1"/>
              <a:t>Produção</a:t>
            </a:r>
            <a:r>
              <a:rPr sz="800" dirty="0"/>
              <a:t> Global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Fábricas </a:t>
            </a:r>
            <a:r>
              <a:rPr sz="600" dirty="0" err="1"/>
              <a:t>globais</a:t>
            </a:r>
            <a:r>
              <a:rPr sz="600" dirty="0"/>
              <a:t> </a:t>
            </a:r>
            <a:r>
              <a:rPr sz="600" dirty="0" err="1"/>
              <a:t>recebem</a:t>
            </a:r>
            <a:r>
              <a:rPr sz="600" dirty="0"/>
              <a:t> a </a:t>
            </a:r>
            <a:r>
              <a:rPr sz="600" dirty="0" err="1"/>
              <a:t>demanda</a:t>
            </a:r>
            <a:r>
              <a:rPr sz="600" dirty="0"/>
              <a:t> com lead time </a:t>
            </a:r>
            <a:r>
              <a:rPr sz="600" dirty="0" err="1"/>
              <a:t>médio</a:t>
            </a:r>
            <a:r>
              <a:rPr sz="600" dirty="0"/>
              <a:t> de 5 meses </a:t>
            </a:r>
            <a:r>
              <a:rPr sz="600" dirty="0" err="1"/>
              <a:t>até</a:t>
            </a:r>
            <a:r>
              <a:rPr sz="600" dirty="0"/>
              <a:t> a filial </a:t>
            </a:r>
            <a:r>
              <a:rPr sz="600" dirty="0" err="1"/>
              <a:t>Brasil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• Etapa 5 — </a:t>
            </a:r>
            <a:r>
              <a:rPr sz="800" dirty="0" err="1"/>
              <a:t>Logística</a:t>
            </a:r>
            <a:r>
              <a:rPr sz="800" dirty="0"/>
              <a:t> &amp; Venda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Transporte (</a:t>
            </a:r>
            <a:r>
              <a:rPr sz="600" dirty="0" err="1"/>
              <a:t>aéreo</a:t>
            </a:r>
            <a:r>
              <a:rPr sz="600" dirty="0"/>
              <a:t>/</a:t>
            </a:r>
            <a:r>
              <a:rPr sz="600" dirty="0" err="1"/>
              <a:t>marítimo</a:t>
            </a:r>
            <a:r>
              <a:rPr sz="600" dirty="0"/>
              <a:t>), </a:t>
            </a:r>
            <a:r>
              <a:rPr sz="600" dirty="0" err="1"/>
              <a:t>desembaraço</a:t>
            </a:r>
            <a:r>
              <a:rPr sz="600" dirty="0"/>
              <a:t>, </a:t>
            </a:r>
            <a:r>
              <a:rPr sz="600" dirty="0" err="1"/>
              <a:t>operador</a:t>
            </a:r>
            <a:r>
              <a:rPr sz="600" dirty="0"/>
              <a:t> </a:t>
            </a:r>
            <a:r>
              <a:rPr sz="600" dirty="0" err="1"/>
              <a:t>logístico</a:t>
            </a:r>
            <a:r>
              <a:rPr sz="600" dirty="0"/>
              <a:t> e </a:t>
            </a:r>
            <a:r>
              <a:rPr sz="600" dirty="0" err="1"/>
              <a:t>liberação</a:t>
            </a:r>
            <a:r>
              <a:rPr sz="600" dirty="0"/>
              <a:t> </a:t>
            </a:r>
            <a:r>
              <a:rPr sz="600" dirty="0" err="1"/>
              <a:t>comercial</a:t>
            </a:r>
            <a:r>
              <a:rPr sz="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861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 err="1"/>
              <a:t>Redesenho</a:t>
            </a:r>
            <a:r>
              <a:rPr dirty="0"/>
              <a:t> TO-BE </a:t>
            </a:r>
            <a:r>
              <a:rPr dirty="0" err="1"/>
              <a:t>Automatiza</a:t>
            </a:r>
            <a:r>
              <a:rPr dirty="0"/>
              <a:t> </a:t>
            </a:r>
            <a:r>
              <a:rPr dirty="0" err="1"/>
              <a:t>Proposta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e Exige </a:t>
            </a:r>
            <a:r>
              <a:rPr dirty="0" err="1"/>
              <a:t>Justificativa</a:t>
            </a:r>
            <a:r>
              <a:rPr dirty="0"/>
              <a:t> e </a:t>
            </a:r>
            <a:r>
              <a:rPr dirty="0" err="1"/>
              <a:t>Governança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1B9A486-5BC8-EB80-4EDC-E7BA64D3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554481"/>
            <a:ext cx="9738360" cy="50182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287001" y="1554480"/>
            <a:ext cx="1356054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✔ Etapa 1 (</a:t>
            </a:r>
            <a:r>
              <a:rPr sz="800" dirty="0" err="1"/>
              <a:t>Redesenhada</a:t>
            </a:r>
            <a:r>
              <a:rPr sz="8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AERA </a:t>
            </a:r>
            <a:r>
              <a:rPr sz="600" dirty="0" err="1"/>
              <a:t>gera</a:t>
            </a:r>
            <a:r>
              <a:rPr sz="600" dirty="0"/>
              <a:t> </a:t>
            </a:r>
            <a:r>
              <a:rPr sz="600" dirty="0" err="1"/>
              <a:t>proposta</a:t>
            </a:r>
            <a:r>
              <a:rPr sz="600" dirty="0"/>
              <a:t> </a:t>
            </a:r>
            <a:r>
              <a:rPr sz="600" dirty="0" err="1"/>
              <a:t>inicial</a:t>
            </a:r>
            <a:r>
              <a:rPr sz="600" dirty="0"/>
              <a:t> </a:t>
            </a:r>
            <a:r>
              <a:rPr sz="600" dirty="0" err="1"/>
              <a:t>automática</a:t>
            </a:r>
            <a:r>
              <a:rPr sz="600" dirty="0"/>
              <a:t> a </a:t>
            </a:r>
            <a:r>
              <a:rPr sz="600" dirty="0" err="1"/>
              <a:t>partir</a:t>
            </a:r>
            <a:r>
              <a:rPr sz="600" dirty="0"/>
              <a:t> do Plano </a:t>
            </a:r>
            <a:r>
              <a:rPr sz="600" dirty="0" err="1"/>
              <a:t>Financeiro</a:t>
            </a:r>
            <a:r>
              <a:rPr sz="600" dirty="0"/>
              <a:t> </a:t>
            </a:r>
            <a:r>
              <a:rPr sz="600" dirty="0" err="1"/>
              <a:t>aprovado</a:t>
            </a:r>
            <a:r>
              <a:rPr sz="600" dirty="0"/>
              <a:t> </a:t>
            </a:r>
            <a:r>
              <a:rPr sz="600" dirty="0" err="1"/>
              <a:t>por</a:t>
            </a:r>
            <a:r>
              <a:rPr sz="600" dirty="0"/>
              <a:t> SKU.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✔ Etapa 2 (</a:t>
            </a:r>
            <a:r>
              <a:rPr sz="800" dirty="0" err="1"/>
              <a:t>Redesenhada</a:t>
            </a:r>
            <a:r>
              <a:rPr sz="800" dirty="0"/>
              <a:t>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Marketing </a:t>
            </a:r>
            <a:r>
              <a:rPr sz="600" dirty="0" err="1"/>
              <a:t>avalia</a:t>
            </a:r>
            <a:r>
              <a:rPr sz="600" dirty="0"/>
              <a:t> e </a:t>
            </a:r>
            <a:r>
              <a:rPr sz="600" dirty="0" err="1"/>
              <a:t>submete</a:t>
            </a:r>
            <a:r>
              <a:rPr sz="600" dirty="0"/>
              <a:t> </a:t>
            </a:r>
            <a:r>
              <a:rPr sz="600" dirty="0" err="1"/>
              <a:t>solicitações</a:t>
            </a:r>
            <a:r>
              <a:rPr sz="600" dirty="0"/>
              <a:t> com valor, </a:t>
            </a:r>
            <a:r>
              <a:rPr sz="600" dirty="0" err="1"/>
              <a:t>justificativa</a:t>
            </a:r>
            <a:r>
              <a:rPr sz="600" dirty="0"/>
              <a:t> e </a:t>
            </a:r>
            <a:r>
              <a:rPr sz="600" dirty="0" err="1"/>
              <a:t>comentário</a:t>
            </a:r>
            <a:r>
              <a:rPr sz="600" dirty="0"/>
              <a:t> </a:t>
            </a:r>
            <a:r>
              <a:rPr sz="600" dirty="0" err="1"/>
              <a:t>obrigatórios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✔ </a:t>
            </a:r>
            <a:r>
              <a:rPr sz="800" dirty="0" err="1"/>
              <a:t>Regra</a:t>
            </a:r>
            <a:r>
              <a:rPr sz="800" dirty="0"/>
              <a:t> de </a:t>
            </a:r>
            <a:r>
              <a:rPr sz="800" dirty="0" err="1"/>
              <a:t>Autorização</a:t>
            </a:r>
            <a:endParaRPr sz="800" dirty="0"/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 err="1"/>
              <a:t>Ajuste</a:t>
            </a:r>
            <a:r>
              <a:rPr sz="600" dirty="0"/>
              <a:t> </a:t>
            </a:r>
            <a:r>
              <a:rPr sz="600" dirty="0" err="1"/>
              <a:t>só</a:t>
            </a:r>
            <a:r>
              <a:rPr sz="600" dirty="0"/>
              <a:t> é </a:t>
            </a:r>
            <a:r>
              <a:rPr sz="600" dirty="0" err="1"/>
              <a:t>autorizado</a:t>
            </a:r>
            <a:r>
              <a:rPr sz="600" dirty="0"/>
              <a:t> se superior </a:t>
            </a:r>
            <a:r>
              <a:rPr sz="600" dirty="0" err="1"/>
              <a:t>ao</a:t>
            </a:r>
            <a:r>
              <a:rPr sz="600" dirty="0"/>
              <a:t> </a:t>
            </a:r>
            <a:r>
              <a:rPr sz="600" dirty="0" err="1"/>
              <a:t>limite</a:t>
            </a:r>
            <a:r>
              <a:rPr sz="600" dirty="0"/>
              <a:t> </a:t>
            </a:r>
            <a:r>
              <a:rPr sz="600" dirty="0" err="1"/>
              <a:t>mínimo</a:t>
            </a:r>
            <a:r>
              <a:rPr sz="600" dirty="0"/>
              <a:t> </a:t>
            </a:r>
            <a:r>
              <a:rPr sz="600" dirty="0" err="1"/>
              <a:t>configurado</a:t>
            </a:r>
            <a:r>
              <a:rPr sz="600" dirty="0"/>
              <a:t> </a:t>
            </a:r>
            <a:r>
              <a:rPr sz="600" dirty="0" err="1"/>
              <a:t>pelo</a:t>
            </a:r>
            <a:r>
              <a:rPr sz="600" dirty="0"/>
              <a:t> Global Supply Chain.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✔ Trilha de Auditoria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/>
              <a:t>AERA </a:t>
            </a:r>
            <a:r>
              <a:rPr sz="600" dirty="0" err="1"/>
              <a:t>retém</a:t>
            </a:r>
            <a:r>
              <a:rPr sz="600" dirty="0"/>
              <a:t> </a:t>
            </a:r>
            <a:r>
              <a:rPr sz="600" dirty="0" err="1"/>
              <a:t>solicitações</a:t>
            </a:r>
            <a:r>
              <a:rPr sz="600" dirty="0"/>
              <a:t> </a:t>
            </a:r>
            <a:r>
              <a:rPr sz="600" dirty="0" err="1"/>
              <a:t>aprovadas</a:t>
            </a:r>
            <a:r>
              <a:rPr sz="600" dirty="0"/>
              <a:t> e </a:t>
            </a:r>
            <a:r>
              <a:rPr sz="600" dirty="0" err="1"/>
              <a:t>negadas</a:t>
            </a:r>
            <a:r>
              <a:rPr sz="600" dirty="0"/>
              <a:t>, </a:t>
            </a:r>
            <a:r>
              <a:rPr sz="600" dirty="0" err="1"/>
              <a:t>usuário</a:t>
            </a:r>
            <a:r>
              <a:rPr sz="600" dirty="0"/>
              <a:t>, data/hora para </a:t>
            </a:r>
            <a:r>
              <a:rPr sz="600" dirty="0" err="1"/>
              <a:t>análise</a:t>
            </a:r>
            <a:r>
              <a:rPr sz="600" dirty="0"/>
              <a:t> de </a:t>
            </a:r>
            <a:r>
              <a:rPr sz="600" dirty="0" err="1"/>
              <a:t>risco</a:t>
            </a:r>
            <a:r>
              <a:rPr sz="600" dirty="0"/>
              <a:t>.</a:t>
            </a:r>
          </a:p>
          <a:p>
            <a:pPr>
              <a:defRPr sz="1100" b="1">
                <a:solidFill>
                  <a:srgbClr val="1B2A4A"/>
                </a:solidFill>
                <a:latin typeface="Verdana"/>
              </a:defRPr>
            </a:pPr>
            <a:r>
              <a:rPr sz="800" dirty="0"/>
              <a:t>✔ </a:t>
            </a:r>
            <a:r>
              <a:rPr sz="800" dirty="0" err="1"/>
              <a:t>Etapas</a:t>
            </a:r>
            <a:r>
              <a:rPr sz="800" dirty="0"/>
              <a:t> </a:t>
            </a:r>
            <a:r>
              <a:rPr sz="800" dirty="0" err="1"/>
              <a:t>Preservadas</a:t>
            </a:r>
            <a:r>
              <a:rPr sz="800" dirty="0"/>
              <a:t> (3 a 5)</a:t>
            </a:r>
          </a:p>
          <a:p>
            <a:pPr>
              <a:spcAft>
                <a:spcPts val="600"/>
              </a:spcAft>
              <a:defRPr sz="1000">
                <a:solidFill>
                  <a:srgbClr val="5A6B7C"/>
                </a:solidFill>
                <a:latin typeface="Verdana"/>
              </a:defRPr>
            </a:pPr>
            <a:r>
              <a:rPr sz="600" dirty="0" err="1"/>
              <a:t>Manutenção</a:t>
            </a:r>
            <a:r>
              <a:rPr sz="600" dirty="0"/>
              <a:t> integral do Sanity Check de Supply Chain Local, </a:t>
            </a:r>
            <a:r>
              <a:rPr sz="600" dirty="0" err="1"/>
              <a:t>fábrica</a:t>
            </a:r>
            <a:r>
              <a:rPr sz="600" dirty="0"/>
              <a:t> e </a:t>
            </a:r>
            <a:r>
              <a:rPr sz="600" dirty="0" err="1"/>
              <a:t>logística</a:t>
            </a:r>
            <a:r>
              <a:rPr sz="600" dirty="0"/>
              <a:t>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Pré-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Obrigatórios</a:t>
            </a:r>
            <a:r>
              <a:rPr dirty="0"/>
              <a:t> de </a:t>
            </a:r>
            <a:r>
              <a:rPr dirty="0" err="1"/>
              <a:t>Governança</a:t>
            </a:r>
            <a:r>
              <a:rPr dirty="0"/>
              <a:t> Antes da </a:t>
            </a:r>
            <a:r>
              <a:rPr dirty="0" err="1"/>
              <a:t>Configuração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1. </a:t>
            </a: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Autorização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Definição</a:t>
            </a:r>
            <a:r>
              <a:rPr dirty="0"/>
              <a:t> formal de </a:t>
            </a:r>
            <a:r>
              <a:rPr dirty="0" err="1"/>
              <a:t>limite</a:t>
            </a:r>
            <a:r>
              <a:rPr dirty="0"/>
              <a:t> </a:t>
            </a:r>
            <a:r>
              <a:rPr dirty="0" err="1"/>
              <a:t>mínimo</a:t>
            </a:r>
            <a:r>
              <a:rPr lang="pt-BR" dirty="0"/>
              <a:t> para efetuar alterações no valor total por SKU contido no </a:t>
            </a:r>
            <a:r>
              <a:rPr lang="pt-BR" dirty="0" err="1"/>
              <a:t>forecast</a:t>
            </a:r>
            <a:r>
              <a:rPr lang="pt-BR" dirty="0"/>
              <a:t> gerado pela automação do AERA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48640" y="2487168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2. Fonte </a:t>
            </a:r>
            <a:r>
              <a:rPr dirty="0" err="1"/>
              <a:t>Financeira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 err="1"/>
              <a:t>Identificação</a:t>
            </a:r>
            <a:r>
              <a:rPr dirty="0"/>
              <a:t> da</a:t>
            </a:r>
            <a:r>
              <a:rPr lang="pt-BR" dirty="0"/>
              <a:t> última</a:t>
            </a:r>
            <a:r>
              <a:rPr dirty="0"/>
              <a:t> </a:t>
            </a:r>
            <a:r>
              <a:rPr dirty="0" err="1"/>
              <a:t>versão</a:t>
            </a:r>
            <a:r>
              <a:rPr dirty="0"/>
              <a:t> </a:t>
            </a:r>
            <a:r>
              <a:rPr dirty="0" err="1"/>
              <a:t>aprovada</a:t>
            </a:r>
            <a:r>
              <a:rPr dirty="0"/>
              <a:t> no SAP Analytics Cloud Planning, </a:t>
            </a:r>
            <a:r>
              <a:rPr dirty="0" err="1"/>
              <a:t>responsável</a:t>
            </a:r>
            <a:r>
              <a:rPr dirty="0"/>
              <a:t> de </a:t>
            </a:r>
            <a:r>
              <a:rPr dirty="0" err="1"/>
              <a:t>publicação</a:t>
            </a:r>
            <a:r>
              <a:rPr dirty="0"/>
              <a:t> e </a:t>
            </a:r>
            <a:r>
              <a:rPr dirty="0" err="1"/>
              <a:t>tratamento</a:t>
            </a:r>
            <a:r>
              <a:rPr dirty="0"/>
              <a:t> de dados </a:t>
            </a:r>
            <a:r>
              <a:rPr dirty="0" err="1"/>
              <a:t>ausentes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19856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3. </a:t>
            </a:r>
            <a:r>
              <a:rPr dirty="0" err="1"/>
              <a:t>Ajustes</a:t>
            </a:r>
            <a:r>
              <a:rPr dirty="0"/>
              <a:t>, Auditoria e </a:t>
            </a:r>
            <a:r>
              <a:rPr dirty="0" err="1"/>
              <a:t>Acessos</a:t>
            </a:r>
            <a:endParaRPr dirty="0"/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dirty="0"/>
              <a:t>Campos </a:t>
            </a:r>
            <a:r>
              <a:rPr dirty="0" err="1"/>
              <a:t>obrigatórios</a:t>
            </a:r>
            <a:r>
              <a:rPr dirty="0"/>
              <a:t> (valor, </a:t>
            </a:r>
            <a:r>
              <a:rPr dirty="0" err="1"/>
              <a:t>justificativa</a:t>
            </a:r>
            <a:r>
              <a:rPr dirty="0"/>
              <a:t>, </a:t>
            </a:r>
            <a:r>
              <a:rPr dirty="0" err="1"/>
              <a:t>comentário</a:t>
            </a:r>
            <a:r>
              <a:rPr dirty="0"/>
              <a:t>), </a:t>
            </a:r>
            <a:r>
              <a:rPr dirty="0" err="1"/>
              <a:t>retenção</a:t>
            </a:r>
            <a:r>
              <a:rPr dirty="0"/>
              <a:t> </a:t>
            </a:r>
            <a:r>
              <a:rPr dirty="0" err="1"/>
              <a:t>histórica</a:t>
            </a:r>
            <a:r>
              <a:rPr dirty="0"/>
              <a:t> completa e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perfis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 no AERA.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52544"/>
            <a:ext cx="1109441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Verdana"/>
              </a:defRPr>
            </a:pPr>
            <a:r>
              <a:rPr dirty="0"/>
              <a:t>4. </a:t>
            </a:r>
            <a:r>
              <a:rPr dirty="0" err="1"/>
              <a:t>Saída</a:t>
            </a:r>
            <a:r>
              <a:rPr dirty="0"/>
              <a:t> para Sanity Check (Etapa 3)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Verificação do valor proposto no </a:t>
            </a:r>
            <a:r>
              <a:rPr lang="pt-BR" dirty="0" err="1"/>
              <a:t>forecast</a:t>
            </a:r>
            <a:r>
              <a:rPr lang="pt-BR" dirty="0"/>
              <a:t> final em comparação com os valores históricos de venda para cada SKU. </a:t>
            </a:r>
          </a:p>
          <a:p>
            <a:pPr>
              <a:defRPr sz="1050">
                <a:solidFill>
                  <a:srgbClr val="5A6B7C"/>
                </a:solidFill>
                <a:latin typeface="Verdana"/>
              </a:defRPr>
            </a:pPr>
            <a:r>
              <a:rPr lang="pt-BR" dirty="0"/>
              <a:t>Exemplo: historicamente a venda de uma SKU flutua entre 1000 e 1200 e o </a:t>
            </a:r>
            <a:r>
              <a:rPr lang="pt-BR" dirty="0" err="1"/>
              <a:t>forecast</a:t>
            </a:r>
            <a:r>
              <a:rPr lang="pt-BR" dirty="0"/>
              <a:t> está em 25000.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Plano de Execução Sequencial em 6 Fases Garante Simulação e Entrada Segura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1: Dados &amp; </a:t>
            </a:r>
            <a:r>
              <a:rPr dirty="0" err="1"/>
              <a:t>Ambiente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Carga do plano </a:t>
            </a:r>
            <a:r>
              <a:rPr dirty="0" err="1"/>
              <a:t>financeiro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SKU.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Carga do histórico de vendas por SKU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Validação dos dados carregados para cada SKU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2: </a:t>
            </a:r>
            <a:r>
              <a:rPr dirty="0" err="1"/>
              <a:t>Configuração</a:t>
            </a:r>
            <a:r>
              <a:rPr dirty="0"/>
              <a:t> AERA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Implementação da automação no AERA 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Criação de f</a:t>
            </a:r>
            <a:r>
              <a:rPr dirty="0" err="1"/>
              <a:t>ormulário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Inclusão da</a:t>
            </a:r>
            <a:r>
              <a:rPr dirty="0"/>
              <a:t> </a:t>
            </a:r>
            <a:r>
              <a:rPr dirty="0" err="1"/>
              <a:t>regra</a:t>
            </a:r>
            <a:r>
              <a:rPr dirty="0"/>
              <a:t> </a:t>
            </a:r>
            <a:r>
              <a:rPr lang="pt-BR" dirty="0"/>
              <a:t>de </a:t>
            </a:r>
            <a:r>
              <a:rPr dirty="0" err="1"/>
              <a:t>limite</a:t>
            </a:r>
            <a:r>
              <a:rPr lang="pt-BR" dirty="0"/>
              <a:t> por SKU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Criação das funcionalidades</a:t>
            </a:r>
            <a:r>
              <a:rPr dirty="0"/>
              <a:t> de auditoria.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8335" y="155448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3: Teste </a:t>
            </a:r>
            <a:r>
              <a:rPr lang="pt-BR" dirty="0"/>
              <a:t>funcional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Bloqueio</a:t>
            </a:r>
            <a:r>
              <a:rPr dirty="0"/>
              <a:t> de </a:t>
            </a:r>
            <a:r>
              <a:rPr dirty="0" err="1"/>
              <a:t>ajuste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justificativa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Bloqueio</a:t>
            </a:r>
            <a:r>
              <a:rPr dirty="0"/>
              <a:t> de </a:t>
            </a:r>
            <a:r>
              <a:rPr lang="pt-BR" dirty="0"/>
              <a:t>alterações abaixo do </a:t>
            </a:r>
            <a:r>
              <a:rPr dirty="0" err="1"/>
              <a:t>limite</a:t>
            </a:r>
            <a:r>
              <a:rPr lang="pt-BR" dirty="0"/>
              <a:t>.</a:t>
            </a:r>
            <a:br>
              <a:rPr dirty="0"/>
            </a:br>
            <a:r>
              <a:rPr dirty="0"/>
              <a:t>• </a:t>
            </a:r>
            <a:r>
              <a:rPr lang="pt-BR" dirty="0"/>
              <a:t>Geração </a:t>
            </a:r>
            <a:r>
              <a:rPr dirty="0"/>
              <a:t>de </a:t>
            </a:r>
            <a:r>
              <a:rPr dirty="0" err="1"/>
              <a:t>relatório</a:t>
            </a:r>
            <a:r>
              <a:rPr lang="pt-BR" dirty="0"/>
              <a:t> de alterações</a:t>
            </a:r>
            <a:r>
              <a:rPr dirty="0"/>
              <a:t> </a:t>
            </a:r>
            <a:r>
              <a:rPr lang="pt-BR" dirty="0"/>
              <a:t>para</a:t>
            </a:r>
            <a:r>
              <a:rPr dirty="0"/>
              <a:t> auditoria.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4: </a:t>
            </a:r>
            <a:r>
              <a:rPr dirty="0" err="1"/>
              <a:t>Simulação</a:t>
            </a:r>
            <a:r>
              <a:rPr lang="pt-BR" dirty="0"/>
              <a:t> completa do processo de alterações</a:t>
            </a:r>
            <a:endParaRPr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Execução</a:t>
            </a:r>
            <a:r>
              <a:rPr dirty="0"/>
              <a:t> de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no AERA.</a:t>
            </a:r>
            <a:br>
              <a:rPr dirty="0"/>
            </a:br>
            <a:r>
              <a:rPr dirty="0"/>
              <a:t>• </a:t>
            </a:r>
            <a:r>
              <a:rPr dirty="0" err="1"/>
              <a:t>Validação</a:t>
            </a:r>
            <a:r>
              <a:rPr dirty="0"/>
              <a:t> da </a:t>
            </a:r>
            <a:r>
              <a:rPr dirty="0" err="1"/>
              <a:t>saída</a:t>
            </a:r>
            <a:r>
              <a:rPr dirty="0"/>
              <a:t> para o Sanity Check.</a:t>
            </a:r>
            <a:br>
              <a:rPr dirty="0"/>
            </a:br>
            <a:r>
              <a:rPr dirty="0"/>
              <a:t>• </a:t>
            </a:r>
            <a:r>
              <a:rPr dirty="0" err="1"/>
              <a:t>Aprovação</a:t>
            </a:r>
            <a:r>
              <a:rPr dirty="0"/>
              <a:t> d</a:t>
            </a:r>
            <a:r>
              <a:rPr lang="pt-BR" dirty="0"/>
              <a:t>o processo revisado por </a:t>
            </a:r>
            <a:r>
              <a:rPr dirty="0"/>
              <a:t>Marketing/Supply/Fin.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358030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5: </a:t>
            </a:r>
            <a:r>
              <a:rPr dirty="0" err="1"/>
              <a:t>Treinamento</a:t>
            </a:r>
            <a:r>
              <a:rPr dirty="0"/>
              <a:t> &amp; Go-Live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dirty="0" err="1"/>
              <a:t>Capacitação</a:t>
            </a:r>
            <a:r>
              <a:rPr dirty="0"/>
              <a:t> de </a:t>
            </a:r>
            <a:r>
              <a:rPr lang="pt-BR" dirty="0"/>
              <a:t>stakeholders envolvidos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Comunicação</a:t>
            </a:r>
            <a:r>
              <a:rPr dirty="0"/>
              <a:t> do </a:t>
            </a:r>
            <a:r>
              <a:rPr dirty="0" err="1"/>
              <a:t>calendário</a:t>
            </a:r>
            <a:r>
              <a:rPr lang="pt-BR" dirty="0"/>
              <a:t> de implementação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dirty="0" err="1"/>
              <a:t>Acompanhamento</a:t>
            </a:r>
            <a:r>
              <a:rPr dirty="0"/>
              <a:t> do </a:t>
            </a:r>
            <a:r>
              <a:rPr lang="pt-BR" dirty="0"/>
              <a:t>processo em produção por 6 meses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402336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07A87"/>
                </a:solidFill>
                <a:latin typeface="Verdana"/>
              </a:defRPr>
            </a:pPr>
            <a:r>
              <a:rPr dirty="0"/>
              <a:t>Fase 6: </a:t>
            </a:r>
            <a:r>
              <a:rPr dirty="0" err="1"/>
              <a:t>Estabilização</a:t>
            </a:r>
            <a:r>
              <a:rPr dirty="0"/>
              <a:t> &amp; KPIs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Relatório mensais de performance</a:t>
            </a:r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dirty="0"/>
              <a:t>• </a:t>
            </a:r>
            <a:r>
              <a:rPr lang="pt-BR" dirty="0"/>
              <a:t>Monitoração dos níveis</a:t>
            </a:r>
            <a:r>
              <a:rPr dirty="0"/>
              <a:t> de D&amp;O</a:t>
            </a:r>
            <a:r>
              <a:rPr lang="pt-BR" dirty="0"/>
              <a:t>, </a:t>
            </a:r>
            <a:r>
              <a:rPr dirty="0"/>
              <a:t>Lost Sales</a:t>
            </a:r>
            <a:r>
              <a:rPr lang="pt-BR" dirty="0"/>
              <a:t> e níveis de estoque.</a:t>
            </a:r>
            <a:br>
              <a:rPr dirty="0"/>
            </a:br>
            <a:r>
              <a:rPr dirty="0"/>
              <a:t>• </a:t>
            </a:r>
            <a:r>
              <a:rPr dirty="0" err="1"/>
              <a:t>Comparação</a:t>
            </a:r>
            <a:r>
              <a:rPr dirty="0"/>
              <a:t> contra baseline.</a:t>
            </a:r>
            <a:endParaRPr lang="pt-BR" dirty="0"/>
          </a:p>
          <a:p>
            <a:pPr>
              <a:defRPr sz="105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Avaliação dos gaps mais relevantes para entender as suas causas para melhoria contínua do processo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A87"/>
                </a:solidFill>
                <a:latin typeface="Verdana"/>
              </a:defRPr>
            </a:pPr>
            <a:r>
              <a:t>PROJETO GO &amp; CS | INDÚSTRIA FARMACÊUTICA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1B2A4A"/>
                </a:solidFill>
                <a:latin typeface="Georgia"/>
              </a:defRPr>
            </a:pPr>
            <a:r>
              <a:t>Matriz de Gestão de Riscos Prevê Mitigações e Protocolo de Contingência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4415" cy="25400"/>
          </a:xfrm>
          <a:prstGeom prst="rect">
            <a:avLst/>
          </a:prstGeom>
          <a:solidFill>
            <a:srgbClr val="2A4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20758"/>
              </p:ext>
            </p:extLst>
          </p:nvPr>
        </p:nvGraphicFramePr>
        <p:xfrm>
          <a:off x="548640" y="1554480"/>
          <a:ext cx="11094415" cy="227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Evento de Risco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rPr dirty="0" err="1"/>
                        <a:t>Ação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Prevenção</a:t>
                      </a:r>
                      <a:endParaRPr dirty="0"/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Condição de Superação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Ação se Não Atendida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Resistência à mudança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Alinhamento entre stakeholders </a:t>
                      </a:r>
                    </a:p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Apresentação dos benefícios da implementação do processo.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Definir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atuação visando a remoção de barreiras à implementação.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Acionamento do </a:t>
                      </a:r>
                      <a:r>
                        <a:rPr lang="pt-BR" dirty="0" err="1"/>
                        <a:t>sponsor</a:t>
                      </a:r>
                      <a:r>
                        <a:rPr lang="pt-BR" dirty="0"/>
                        <a:t> do projeto para coordenação com direção das áreas dos stakeholders.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Subdimensionamento da demanda por conta do baseline ser baseado no plano financeiro, que tende a ser mais conservador.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Mudança do plano financeiro para ficar alinhado com a expectativa de demanda realista compensada por estimativa conservadora em produtos específicos que que tenham justificativa.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Cultura de que financial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e </a:t>
                      </a:r>
                      <a:r>
                        <a:rPr lang="pt-BR" dirty="0" err="1"/>
                        <a:t>demand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forecast</a:t>
                      </a:r>
                      <a:r>
                        <a:rPr lang="pt-BR" dirty="0"/>
                        <a:t> devem andar juntos.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A2530"/>
                          </a:solidFill>
                          <a:latin typeface="Verdana"/>
                        </a:defRPr>
                      </a:pPr>
                      <a:r>
                        <a:rPr lang="pt-BR" dirty="0"/>
                        <a:t>Gestão da situação pela equipe de marketing com o comercial.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91525"/>
            <a:ext cx="11094415" cy="14558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/>
          <a:lstStyle/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r>
              <a:rPr dirty="0"/>
              <a:t>PROTOCOLO DE CONTINGÊNCIA OPERACIONAL:</a:t>
            </a:r>
            <a:endParaRPr lang="pt-BR" dirty="0"/>
          </a:p>
          <a:p>
            <a:pPr algn="ctr">
              <a:defRPr sz="1100" b="1">
                <a:solidFill>
                  <a:srgbClr val="B03A2E"/>
                </a:solidFill>
                <a:latin typeface="Verdana"/>
              </a:defRPr>
            </a:pPr>
            <a:endParaRPr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Em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antes da </a:t>
            </a:r>
            <a:r>
              <a:rPr dirty="0" err="1"/>
              <a:t>consolidação</a:t>
            </a:r>
            <a:r>
              <a:rPr dirty="0"/>
              <a:t> do forecast, o </a:t>
            </a:r>
            <a:r>
              <a:rPr dirty="0" err="1"/>
              <a:t>ciclo</a:t>
            </a:r>
            <a:r>
              <a:rPr dirty="0"/>
              <a:t> </a:t>
            </a:r>
            <a:r>
              <a:rPr dirty="0" err="1"/>
              <a:t>afetado</a:t>
            </a:r>
            <a:r>
              <a:rPr dirty="0"/>
              <a:t> </a:t>
            </a:r>
            <a:r>
              <a:rPr dirty="0" err="1"/>
              <a:t>retorna</a:t>
            </a:r>
            <a:r>
              <a:rPr dirty="0"/>
              <a:t> </a:t>
            </a:r>
            <a:r>
              <a:rPr dirty="0" err="1"/>
              <a:t>temporariamente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 das </a:t>
            </a:r>
            <a:r>
              <a:rPr dirty="0" err="1"/>
              <a:t>etapas</a:t>
            </a:r>
            <a:r>
              <a:rPr dirty="0"/>
              <a:t> 1 e 2.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registrados</a:t>
            </a:r>
            <a:r>
              <a:rPr dirty="0"/>
              <a:t> no AERA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totalmente</a:t>
            </a:r>
            <a:r>
              <a:rPr dirty="0"/>
              <a:t> </a:t>
            </a:r>
            <a:r>
              <a:rPr dirty="0" err="1"/>
              <a:t>mantidos</a:t>
            </a:r>
            <a:r>
              <a:rPr dirty="0"/>
              <a:t> para auditoria e </a:t>
            </a:r>
            <a:r>
              <a:rPr dirty="0" err="1"/>
              <a:t>diagnóstico</a:t>
            </a:r>
            <a:r>
              <a:rPr dirty="0"/>
              <a:t>. </a:t>
            </a:r>
            <a:endParaRPr lang="pt-BR" dirty="0"/>
          </a:p>
          <a:p>
            <a:pPr>
              <a:defRPr sz="1000">
                <a:solidFill>
                  <a:srgbClr val="1A2530"/>
                </a:solidFill>
                <a:latin typeface="Verdana"/>
              </a:defRPr>
            </a:pPr>
            <a:r>
              <a:rPr lang="pt-BR" dirty="0"/>
              <a:t>• </a:t>
            </a:r>
            <a:r>
              <a:rPr dirty="0"/>
              <a:t>As </a:t>
            </a:r>
            <a:r>
              <a:rPr dirty="0" err="1"/>
              <a:t>etapas</a:t>
            </a:r>
            <a:r>
              <a:rPr dirty="0"/>
              <a:t> 3 a 5 do Supply Chain e Fábricas </a:t>
            </a:r>
            <a:r>
              <a:rPr dirty="0" err="1"/>
              <a:t>permanecem</a:t>
            </a:r>
            <a:r>
              <a:rPr dirty="0"/>
              <a:t> 100% </a:t>
            </a:r>
            <a:r>
              <a:rPr dirty="0" err="1"/>
              <a:t>inalteradas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1275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 Moreira</cp:lastModifiedBy>
  <cp:revision>1</cp:revision>
  <dcterms:created xsi:type="dcterms:W3CDTF">2013-01-27T09:14:16Z</dcterms:created>
  <dcterms:modified xsi:type="dcterms:W3CDTF">2026-10-20T01:56:23Z</dcterms:modified>
  <cp:category/>
</cp:coreProperties>
</file>
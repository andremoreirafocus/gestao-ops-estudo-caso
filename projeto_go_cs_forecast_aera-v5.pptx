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63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05B4E52-06FF-4AE8-A66C-8BB5D5CE6B02}" v="5" dt="2026-10-21T21:10:57.8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3498" autoAdjust="0"/>
  </p:normalViewPr>
  <p:slideViewPr>
    <p:cSldViewPr snapToGrid="0" snapToObjects="1">
      <p:cViewPr varScale="1">
        <p:scale>
          <a:sx n="86" d="100"/>
          <a:sy n="86" d="100"/>
        </p:scale>
        <p:origin x="300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é Moreira" userId="a074d5cff11e4feb" providerId="LiveId" clId="{A3AE0FC4-E642-4DAF-99C2-2E02E3CB77AA}"/>
    <pc:docChg chg="undo custSel modSld">
      <pc:chgData name="André Moreira" userId="a074d5cff11e4feb" providerId="LiveId" clId="{A3AE0FC4-E642-4DAF-99C2-2E02E3CB77AA}" dt="2026-10-21T21:13:13.546" v="37" actId="122"/>
      <pc:docMkLst>
        <pc:docMk/>
      </pc:docMkLst>
      <pc:sldChg chg="modSp mod">
        <pc:chgData name="André Moreira" userId="a074d5cff11e4feb" providerId="LiveId" clId="{A3AE0FC4-E642-4DAF-99C2-2E02E3CB77AA}" dt="2026-10-21T21:13:13.546" v="37" actId="122"/>
        <pc:sldMkLst>
          <pc:docMk/>
          <pc:sldMk cId="0" sldId="257"/>
        </pc:sldMkLst>
        <pc:spChg chg="mod">
          <ac:chgData name="André Moreira" userId="a074d5cff11e4feb" providerId="LiveId" clId="{A3AE0FC4-E642-4DAF-99C2-2E02E3CB77AA}" dt="2026-10-21T21:13:05.933" v="35" actId="122"/>
          <ac:spMkLst>
            <pc:docMk/>
            <pc:sldMk cId="0" sldId="257"/>
            <ac:spMk id="5" creationId="{00000000-0000-0000-0000-000000000000}"/>
          </ac:spMkLst>
        </pc:spChg>
        <pc:spChg chg="mod">
          <ac:chgData name="André Moreira" userId="a074d5cff11e4feb" providerId="LiveId" clId="{A3AE0FC4-E642-4DAF-99C2-2E02E3CB77AA}" dt="2026-10-21T21:13:11.110" v="36" actId="122"/>
          <ac:spMkLst>
            <pc:docMk/>
            <pc:sldMk cId="0" sldId="257"/>
            <ac:spMk id="6" creationId="{00000000-0000-0000-0000-000000000000}"/>
          </ac:spMkLst>
        </pc:spChg>
        <pc:spChg chg="mod">
          <ac:chgData name="André Moreira" userId="a074d5cff11e4feb" providerId="LiveId" clId="{A3AE0FC4-E642-4DAF-99C2-2E02E3CB77AA}" dt="2026-10-21T21:13:13.546" v="37" actId="122"/>
          <ac:spMkLst>
            <pc:docMk/>
            <pc:sldMk cId="0" sldId="257"/>
            <ac:spMk id="7" creationId="{00000000-0000-0000-0000-000000000000}"/>
          </ac:spMkLst>
        </pc:spChg>
      </pc:sldChg>
      <pc:sldChg chg="modSp mod">
        <pc:chgData name="André Moreira" userId="a074d5cff11e4feb" providerId="LiveId" clId="{A3AE0FC4-E642-4DAF-99C2-2E02E3CB77AA}" dt="2026-10-21T21:10:57.816" v="22"/>
        <pc:sldMkLst>
          <pc:docMk/>
          <pc:sldMk cId="0" sldId="259"/>
        </pc:sldMkLst>
        <pc:spChg chg="mod">
          <ac:chgData name="André Moreira" userId="a074d5cff11e4feb" providerId="LiveId" clId="{A3AE0FC4-E642-4DAF-99C2-2E02E3CB77AA}" dt="2026-10-21T21:10:57.816" v="22"/>
          <ac:spMkLst>
            <pc:docMk/>
            <pc:sldMk cId="0" sldId="259"/>
            <ac:spMk id="6" creationId="{00000000-0000-0000-0000-000000000000}"/>
          </ac:spMkLst>
        </pc:spChg>
        <pc:picChg chg="mod">
          <ac:chgData name="André Moreira" userId="a074d5cff11e4feb" providerId="LiveId" clId="{A3AE0FC4-E642-4DAF-99C2-2E02E3CB77AA}" dt="2026-10-21T21:09:50.906" v="1" actId="14100"/>
          <ac:picMkLst>
            <pc:docMk/>
            <pc:sldMk cId="0" sldId="259"/>
            <ac:picMk id="10" creationId="{71B9A486-5BC8-EB80-4EDC-E7BA64D31AED}"/>
          </ac:picMkLst>
        </pc:picChg>
      </pc:sldChg>
      <pc:sldChg chg="modSp mod">
        <pc:chgData name="André Moreira" userId="a074d5cff11e4feb" providerId="LiveId" clId="{A3AE0FC4-E642-4DAF-99C2-2E02E3CB77AA}" dt="2026-10-21T21:10:23.452" v="13" actId="14100"/>
        <pc:sldMkLst>
          <pc:docMk/>
          <pc:sldMk cId="718610512" sldId="263"/>
        </pc:sldMkLst>
        <pc:spChg chg="mod">
          <ac:chgData name="André Moreira" userId="a074d5cff11e4feb" providerId="LiveId" clId="{A3AE0FC4-E642-4DAF-99C2-2E02E3CB77AA}" dt="2026-10-21T21:10:23.452" v="13" actId="14100"/>
          <ac:spMkLst>
            <pc:docMk/>
            <pc:sldMk cId="718610512" sldId="263"/>
            <ac:spMk id="6" creationId="{CADC52ED-3482-C78D-3F53-FF4B3136351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81875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pt-BR"/>
              <a:t>Tempo sugerido: 1 min 30 s.</a:t>
            </a:r>
          </a:p>
          <a:p>
            <a:r>
              <a:rPr lang="pt-BR"/>
              <a:t>Bom dia. Este projeto trata do planejamento de demanda de uma indústria farmacêutica com operação local no Brasil e elos globais de Supply Chain.</a:t>
            </a:r>
          </a:p>
          <a:p>
            <a:r>
              <a:rPr lang="pt-BR"/>
              <a:t>O recorte é deliberado: redesenhamos apenas as etapas 1 e 2 do forecast no AERA. Hoje, elas dependem de uma projeção comercial e de ajustes manuais; no futuro, partem de uma proposta automática e passam a ter governança para alterações.</a:t>
            </a:r>
          </a:p>
          <a:p>
            <a:r>
              <a:rPr lang="pt-BR"/>
              <a:t>As etapas posteriores — sanity check, planejamento com fábricas e logística — são preservadas. A finalidade é reduzir duas consequências que o caso explicita: Lost Sales, pela falta de produto, e D&amp;O, pelo excesso que pode vencer antes da venda.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pt-BR"/>
              <a:t>Tempo sugerido: 3 min 30 s.</a:t>
            </a:r>
          </a:p>
          <a:p>
            <a:r>
              <a:rPr lang="pt-BR"/>
              <a:t>O problema combina dois fatores. O primeiro é estrutural: o cenário informa um lead time médio de cinco meses entre o envio do forecast pelas sucursais locais e a disponibilidade do medicamento ao operador logístico no Brasil.</a:t>
            </a:r>
          </a:p>
          <a:p>
            <a:r>
              <a:rPr lang="pt-BR"/>
              <a:t>Com essa antecedência, um erro de previsão é amplificado. A superestimação aumenta o risco de estoque vencido; a subestimação aumenta o risco de ruptura e perda de receita.</a:t>
            </a:r>
          </a:p>
          <a:p>
            <a:r>
              <a:rPr lang="pt-BR"/>
              <a:t>O segundo fator é o modo como os ajustes são feitos. Marketing busca capturar oportunidades comerciais, enquanto Supply Chain precisa equilibrar disponibilidade, estoque e perdas. O slide descreve gorduras ou cortes sem justificativa formal, critério de autorização ou histórico de alterações.</a:t>
            </a:r>
          </a:p>
          <a:p>
            <a:r>
              <a:rPr lang="pt-BR"/>
              <a:t>Assim, não estamos atribuindo o problema a uma única área. O ponto central é a ausência de uma governança explícita para construir e alterar o forecast, com impacto direto em D&amp;O e Lost Sales.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31ABE2-6A51-6E51-3A94-CD2D995DB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6A3060-B223-E74B-23E7-E43DD97A846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CD8119-1301-34A9-1B20-CAF08D9F4F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pt-BR"/>
              <a:t>Tempo sugerido: 4 min.</a:t>
            </a:r>
          </a:p>
          <a:p>
            <a:r>
              <a:rPr lang="pt-BR"/>
              <a:t>Este é o AS-IS. As caixas azuis à esquerda são as entradas: expectativa de vendas, dados internos e sinais de mercado, plano financeiro, estoques e capacidade, além de eventos extraordinários.</a:t>
            </a:r>
          </a:p>
          <a:p>
            <a:r>
              <a:rPr lang="pt-BR"/>
              <a:t>Na etapa 1, Marketing e Comercial projetam mensalmente as vendas para 24 meses. Na etapa 2, Marketing consolida e ajusta a previsão no AERA. É nessa etapa que o diagrama sinaliza o ponto de dor: gorduras ou cortes de volume.</a:t>
            </a:r>
          </a:p>
          <a:p>
            <a:r>
              <a:rPr lang="pt-BR"/>
              <a:t>Depois, Supply Chain Local realiza o sanity check contra histórico e plano financeiro, verifica estoque e capacidade, comunica restrições e envia os volumes ao Supply Chain Global. As fábricas planejam e produzem; a operação local conduz logística, desembaraço e recebimento até disponibilizar o produto para venda.</a:t>
            </a:r>
          </a:p>
          <a:p>
            <a:r>
              <a:rPr lang="pt-BR"/>
              <a:t>À direita, o mapa evidencia os resultados indesejados: falta de produto, vencimento antes da venda e o lead time total de cinco meses. O cenário não localiza um gargalo operacional específico; ele informa esse lead time como a restrição que torna a qualidade do forecast crítica.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A709AD-599C-915C-A3BC-F66813FF26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9372183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pt-BR"/>
              <a:t>Tempo sugerido: 5 min.</a:t>
            </a:r>
          </a:p>
          <a:p>
            <a:r>
              <a:rPr lang="pt-BR"/>
              <a:t>Este é o TO-BE. Em verde estão os elementos alterados; em cinza, as atividades preservadas. A comparação com o AS-IS mostra que as etapas 3, 4 e 5 permanecem no mesmo papel.</a:t>
            </a:r>
          </a:p>
          <a:p>
            <a:r>
              <a:rPr lang="pt-BR"/>
              <a:t>A etapa 1 passa para o AERA: o sistema gera o forecast inicial a partir do plano financeiro por SKU. Marketing não deixa de participar; na etapa 2, ele avalia a proposta e pode solicitar ajuste material, desde que informe justificativa e comentário.</a:t>
            </a:r>
          </a:p>
          <a:p>
            <a:r>
              <a:rPr lang="pt-BR"/>
              <a:t>O diagrama inclui a regra de autorização: o Supply Chain Global define o limite mínimo e o AERA verifica se o valor do ajuste o supera. Quando autorizado, o ajuste é registrado e consolidado no forecast; quando negado, ele também é registrado para auditoria.</a:t>
            </a:r>
          </a:p>
          <a:p>
            <a:r>
              <a:rPr lang="pt-BR"/>
              <a:t>A partir do forecast ajustado, o AERA gera métricas e análises de D&amp;O, Lost Sales, riscos e assertividade frente ao plano financeiro. O ganho esperado não é substituir o julgamento comercial, mas torná-lo rastreável e submetido à mesma governança de abastecimento.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pt-BR"/>
              <a:t>Tempo sugerido: 3 min 30 s.</a:t>
            </a:r>
          </a:p>
          <a:p>
            <a:r>
              <a:rPr lang="pt-BR"/>
              <a:t>Este slide reúne os pré-requisitos de governança, que no plano chamamos de Gate 0. É a condição para começar a configuração, e não uma etapa adicional do fluxo operacional.</a:t>
            </a:r>
          </a:p>
          <a:p>
            <a:r>
              <a:rPr lang="pt-BR"/>
              <a:t>O primeiro requisito é formalizar o limite mínimo para autorização de alterações no forecast por SKU. O segundo é garantir a fonte financeira: a versão aprovada no SAP Analytics Cloud Planning, seu responsável e o tratamento de dados ausentes.</a:t>
            </a:r>
          </a:p>
          <a:p>
            <a:r>
              <a:rPr lang="pt-BR"/>
              <a:t>O terceiro requisito é configurar os controles no AERA: valor, justificativa e comentário obrigatórios, retenção do histórico e perfis de acesso autorizados. Sem esses elementos, a nova trilha de auditoria não se sustenta.</a:t>
            </a:r>
          </a:p>
          <a:p>
            <a:r>
              <a:rPr lang="pt-BR"/>
              <a:t>O quarto requisito é assegurar que o forecast final seja entregue à etapa 3 para comparação com histórico e plano financeiro. O exemplo do slide ilustra por que esse sanity check é mantido: uma previsão muito fora do comportamento histórico precisa ser analisada antes de orientar o abastecimento.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pt-BR"/>
              <a:t>Tempo sugerido: 4 min 30 s.</a:t>
            </a:r>
          </a:p>
          <a:p>
            <a:r>
              <a:rPr lang="pt-BR"/>
              <a:t>O plano de execução está organizado em seis fases sequenciais. A lógica é validar dados, regra e processo antes de expor a operação ao novo fluxo.</a:t>
            </a:r>
          </a:p>
          <a:p>
            <a:r>
              <a:rPr lang="pt-BR"/>
              <a:t>A fase 1 prepara dados e ambiente: plano financeiro por SKU, histórico de vendas e validação das cargas. A fase 2 configura o AERA com a automação, o formulário de ajustes, a regra de limite e as funções de auditoria.</a:t>
            </a:r>
          </a:p>
          <a:p>
            <a:r>
              <a:rPr lang="pt-BR"/>
              <a:t>Na fase 3, testamos os controles que aparecem no TO-BE: não permitir ajuste sem justificativa e não aprovar alteração que não atenda ao limite. Na fase 4, a simulação ponta a ponta valida a saída para o sanity check e exige aprovação de Marketing, Supply Chain e Finanças.</a:t>
            </a:r>
          </a:p>
          <a:p>
            <a:r>
              <a:rPr lang="pt-BR"/>
              <a:t>As fases 5 e 6 cuidam da entrada em produção, capacitação, estabilização e acompanhamento. Os indicadores previstos são D&amp;O, Lost Sales, estoque e comparação com o baseline; eles fecham o ciclo entre a mudança de processo e o resultado de negócio.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pt-BR"/>
              <a:t>Tempo sugerido: 3 min.</a:t>
            </a:r>
          </a:p>
          <a:p>
            <a:r>
              <a:rPr lang="pt-BR"/>
              <a:t>A matriz trata dois riscos principais. O primeiro é a resistência à mudança. A prevenção combina alinhamento entre stakeholders e comunicação dos benefícios; se não for suficiente, o sponsor é acionado para remover barreiras.</a:t>
            </a:r>
          </a:p>
          <a:p>
            <a:r>
              <a:rPr lang="pt-BR"/>
              <a:t>O segundo risco é um baseline financeiro conservador, que pode subdimensionar a demanda. A prevenção proposta é manter o forecast financeiro e o de demanda alinhados e tratar justificativas específicas quando houver uma expectativa realista diferente para determinados produtos.</a:t>
            </a:r>
          </a:p>
          <a:p>
            <a:r>
              <a:rPr lang="pt-BR"/>
              <a:t>A contingência também é objetiva: se houver falha crítica antes da consolidação do forecast, o ciclo afetado retorna temporariamente ao fluxo legado nas etapas 1 e 2. Os dados já registrados permanecem no AERA para auditoria e diagnóstico.</a:t>
            </a:r>
          </a:p>
          <a:p>
            <a:r>
              <a:rPr lang="pt-BR"/>
              <a:t>As etapas 3 a 5 não são interrompidas nem alteradas pela contingência. Em síntese, a proposta preserva a continuidade operacional enquanto transforma os ajustes de demanda em decisões justificadas, autorizadas quando aplicável e auditáveis. Obrigado; ficamos à disposição para perguntas.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1097280"/>
            <a:ext cx="137160" cy="4663440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" y="109728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007A87"/>
                </a:solidFill>
                <a:latin typeface="Verdana"/>
              </a:defRPr>
            </a:pPr>
            <a:r>
              <a:t>PROJETO DE GESTÃO DE OPERAÇÕES E CADEIA DE SUPRIMENTOS</a:t>
            </a:r>
          </a:p>
          <a:p>
            <a:pPr>
              <a:spcAft>
                <a:spcPts val="1400"/>
              </a:spcAft>
              <a:defRPr sz="3200" b="1">
                <a:solidFill>
                  <a:srgbClr val="FFFFFF"/>
                </a:solidFill>
                <a:latin typeface="Georgia"/>
              </a:defRPr>
            </a:pPr>
            <a:r>
              <a:t>Otimização e Automação do Fluxo de Forecast no Sistema AERA</a:t>
            </a:r>
          </a:p>
          <a:p>
            <a:pPr>
              <a:spcAft>
                <a:spcPts val="2800"/>
              </a:spcAft>
              <a:defRPr sz="1800">
                <a:solidFill>
                  <a:srgbClr val="DCE6F1"/>
                </a:solidFill>
                <a:latin typeface="Verdana"/>
              </a:defRPr>
            </a:pPr>
            <a:r>
              <a:t>Redesenho do Processo de Demanda, Mapeamento AS-IS/TO-BE e Plano de Implantação</a:t>
            </a:r>
          </a:p>
          <a:p>
            <a:pPr>
              <a:defRPr sz="1300">
                <a:solidFill>
                  <a:srgbClr val="AABBCC"/>
                </a:solidFill>
                <a:latin typeface="Verdana"/>
              </a:defRPr>
            </a:pPr>
            <a:r>
              <a:t>Docentes: Prof. Dr. Alvair Silveira Torres Jr. &amp; Profa. Dra. Marisangela (2026)</a:t>
            </a:r>
            <a:br/>
            <a:r>
              <a:t>Indústria Farmacêutica — Unidade Brasil &amp; Operações Globais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7A87"/>
                </a:solidFill>
                <a:latin typeface="Verdana"/>
              </a:defRPr>
            </a:pPr>
            <a:r>
              <a:t>PROJETO GO &amp; CS | INDÚSTRIA FARMACÊUTICA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415" cy="77724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defRPr sz="2200" b="1">
                <a:solidFill>
                  <a:srgbClr val="1B2A4A"/>
                </a:solidFill>
                <a:latin typeface="Georgia"/>
              </a:defRPr>
            </a:pPr>
            <a:r>
              <a:t>Conflito Comercial vs. Supply Chain e Lead Time de 5 Meses Geram Elevadas Perdas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11094415" cy="25400"/>
          </a:xfrm>
          <a:prstGeom prst="rect">
            <a:avLst/>
          </a:prstGeom>
          <a:solidFill>
            <a:srgbClr val="2A4D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347472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defRPr sz="1100" b="1">
                <a:solidFill>
                  <a:srgbClr val="007A87"/>
                </a:solidFill>
                <a:latin typeface="Verdana"/>
              </a:defRPr>
            </a:pPr>
            <a:r>
              <a:rPr dirty="0"/>
              <a:t>GARGALO CRÍTICO 1</a:t>
            </a:r>
          </a:p>
          <a:p>
            <a:pPr algn="ctr">
              <a:spcAft>
                <a:spcPts val="1000"/>
              </a:spcAft>
              <a:defRPr sz="3600" b="1">
                <a:solidFill>
                  <a:srgbClr val="1B2A4A"/>
                </a:solidFill>
                <a:latin typeface="Georgia"/>
              </a:defRPr>
            </a:pPr>
            <a:r>
              <a:rPr dirty="0"/>
              <a:t> </a:t>
            </a:r>
            <a:r>
              <a:rPr lang="pt-BR" dirty="0">
                <a:latin typeface="+mj-lt"/>
              </a:rPr>
              <a:t>5 </a:t>
            </a:r>
            <a:r>
              <a:rPr dirty="0">
                <a:latin typeface="+mj-lt"/>
              </a:rPr>
              <a:t>Meses</a:t>
            </a:r>
          </a:p>
          <a:p>
            <a:pPr>
              <a:spcAft>
                <a:spcPts val="1000"/>
              </a:spcAft>
              <a:defRPr sz="1400" b="1">
                <a:solidFill>
                  <a:srgbClr val="1A2530"/>
                </a:solidFill>
                <a:latin typeface="Verdana"/>
              </a:defRPr>
            </a:pPr>
            <a:r>
              <a:rPr dirty="0"/>
              <a:t>Lead Time </a:t>
            </a:r>
            <a:r>
              <a:rPr dirty="0" err="1"/>
              <a:t>Médio</a:t>
            </a:r>
            <a:r>
              <a:rPr dirty="0"/>
              <a:t> Global</a:t>
            </a:r>
          </a:p>
          <a:p>
            <a:pPr>
              <a:defRPr sz="1200">
                <a:solidFill>
                  <a:srgbClr val="5A6B7C"/>
                </a:solidFill>
                <a:latin typeface="Verdana"/>
              </a:defRPr>
            </a:pPr>
            <a:r>
              <a:rPr dirty="0"/>
              <a:t>• </a:t>
            </a:r>
            <a:r>
              <a:rPr dirty="0" err="1"/>
              <a:t>Transcurso</a:t>
            </a:r>
            <a:r>
              <a:rPr dirty="0"/>
              <a:t> entre o </a:t>
            </a:r>
            <a:r>
              <a:rPr dirty="0" err="1"/>
              <a:t>envio</a:t>
            </a:r>
            <a:r>
              <a:rPr dirty="0"/>
              <a:t> do forecast </a:t>
            </a:r>
            <a:r>
              <a:rPr dirty="0" err="1"/>
              <a:t>pelas</a:t>
            </a:r>
            <a:r>
              <a:rPr dirty="0"/>
              <a:t> </a:t>
            </a:r>
            <a:r>
              <a:rPr dirty="0" err="1"/>
              <a:t>sucursais</a:t>
            </a:r>
            <a:r>
              <a:rPr dirty="0"/>
              <a:t> </a:t>
            </a:r>
            <a:r>
              <a:rPr dirty="0" err="1"/>
              <a:t>locais</a:t>
            </a:r>
            <a:r>
              <a:rPr dirty="0"/>
              <a:t> e a </a:t>
            </a:r>
            <a:r>
              <a:rPr dirty="0" err="1"/>
              <a:t>chegada</a:t>
            </a:r>
            <a:r>
              <a:rPr dirty="0"/>
              <a:t> </a:t>
            </a:r>
            <a:r>
              <a:rPr dirty="0" err="1"/>
              <a:t>efetiva</a:t>
            </a:r>
            <a:r>
              <a:rPr dirty="0"/>
              <a:t> do </a:t>
            </a:r>
            <a:r>
              <a:rPr dirty="0" err="1"/>
              <a:t>medicamento</a:t>
            </a:r>
            <a:r>
              <a:rPr dirty="0"/>
              <a:t> </a:t>
            </a:r>
            <a:r>
              <a:rPr dirty="0" err="1"/>
              <a:t>ao</a:t>
            </a:r>
            <a:r>
              <a:rPr dirty="0"/>
              <a:t> </a:t>
            </a:r>
            <a:r>
              <a:rPr dirty="0" err="1"/>
              <a:t>operador</a:t>
            </a:r>
            <a:r>
              <a:rPr dirty="0"/>
              <a:t> </a:t>
            </a:r>
            <a:r>
              <a:rPr dirty="0" err="1"/>
              <a:t>logístico</a:t>
            </a:r>
            <a:r>
              <a:rPr dirty="0"/>
              <a:t> no </a:t>
            </a:r>
            <a:r>
              <a:rPr dirty="0" err="1"/>
              <a:t>Brasil</a:t>
            </a:r>
            <a:r>
              <a:rPr dirty="0"/>
              <a:t>.</a:t>
            </a:r>
            <a:br>
              <a:rPr dirty="0"/>
            </a:br>
            <a:r>
              <a:rPr dirty="0"/>
              <a:t>• Longa </a:t>
            </a:r>
            <a:r>
              <a:rPr dirty="0" err="1"/>
              <a:t>janela</a:t>
            </a:r>
            <a:r>
              <a:rPr dirty="0"/>
              <a:t> </a:t>
            </a:r>
            <a:r>
              <a:rPr dirty="0" err="1"/>
              <a:t>exige</a:t>
            </a:r>
            <a:r>
              <a:rPr dirty="0"/>
              <a:t> </a:t>
            </a:r>
            <a:r>
              <a:rPr dirty="0" err="1"/>
              <a:t>alta</a:t>
            </a:r>
            <a:r>
              <a:rPr dirty="0"/>
              <a:t> </a:t>
            </a:r>
            <a:r>
              <a:rPr dirty="0" err="1"/>
              <a:t>precisão</a:t>
            </a:r>
            <a:r>
              <a:rPr dirty="0"/>
              <a:t> do </a:t>
            </a:r>
            <a:r>
              <a:rPr dirty="0" err="1"/>
              <a:t>planejamento</a:t>
            </a:r>
            <a:r>
              <a:rPr dirty="0"/>
              <a:t> de </a:t>
            </a:r>
            <a:r>
              <a:rPr dirty="0" err="1"/>
              <a:t>vendas</a:t>
            </a:r>
            <a:r>
              <a:rPr dirty="0"/>
              <a:t>, </a:t>
            </a:r>
            <a:r>
              <a:rPr dirty="0" err="1"/>
              <a:t>tornando</a:t>
            </a:r>
            <a:r>
              <a:rPr dirty="0"/>
              <a:t> </a:t>
            </a:r>
            <a:r>
              <a:rPr dirty="0" err="1"/>
              <a:t>qualquer</a:t>
            </a:r>
            <a:r>
              <a:rPr dirty="0"/>
              <a:t> </a:t>
            </a:r>
            <a:r>
              <a:rPr dirty="0" err="1"/>
              <a:t>distorção</a:t>
            </a:r>
            <a:r>
              <a:rPr dirty="0"/>
              <a:t> </a:t>
            </a:r>
            <a:r>
              <a:rPr dirty="0" err="1"/>
              <a:t>altamente</a:t>
            </a:r>
            <a:r>
              <a:rPr dirty="0"/>
              <a:t> </a:t>
            </a:r>
            <a:r>
              <a:rPr dirty="0" err="1"/>
              <a:t>amplificada</a:t>
            </a:r>
            <a:r>
              <a:rPr dirty="0"/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58030" y="1554480"/>
            <a:ext cx="347472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defRPr sz="1100" b="1">
                <a:solidFill>
                  <a:srgbClr val="B03A2E"/>
                </a:solidFill>
                <a:latin typeface="Verdana"/>
              </a:defRPr>
            </a:pPr>
            <a:r>
              <a:rPr dirty="0"/>
              <a:t>GARGALO CRÍTICO 2</a:t>
            </a:r>
          </a:p>
          <a:p>
            <a:pPr algn="ctr">
              <a:spcAft>
                <a:spcPts val="1000"/>
              </a:spcAft>
              <a:defRPr sz="3200" b="1">
                <a:solidFill>
                  <a:srgbClr val="1B2A4A"/>
                </a:solidFill>
                <a:latin typeface="Georgia"/>
              </a:defRPr>
            </a:pPr>
            <a:r>
              <a:rPr dirty="0" err="1">
                <a:latin typeface="+mj-lt"/>
              </a:rPr>
              <a:t>Subjetividade</a:t>
            </a:r>
            <a:endParaRPr dirty="0">
              <a:latin typeface="+mj-lt"/>
            </a:endParaRPr>
          </a:p>
          <a:p>
            <a:pPr>
              <a:spcAft>
                <a:spcPts val="1000"/>
              </a:spcAft>
              <a:defRPr sz="1400" b="1">
                <a:solidFill>
                  <a:srgbClr val="1A2530"/>
                </a:solidFill>
                <a:latin typeface="Verdana"/>
              </a:defRPr>
            </a:pPr>
            <a:r>
              <a:rPr dirty="0" err="1"/>
              <a:t>Ajustes</a:t>
            </a:r>
            <a:r>
              <a:rPr dirty="0"/>
              <a:t> </a:t>
            </a:r>
            <a:r>
              <a:rPr dirty="0" err="1"/>
              <a:t>sem</a:t>
            </a:r>
            <a:r>
              <a:rPr dirty="0"/>
              <a:t> </a:t>
            </a:r>
            <a:r>
              <a:rPr dirty="0" err="1"/>
              <a:t>Justificativa</a:t>
            </a:r>
            <a:endParaRPr dirty="0"/>
          </a:p>
          <a:p>
            <a:pPr>
              <a:defRPr sz="1200">
                <a:solidFill>
                  <a:srgbClr val="5A6B7C"/>
                </a:solidFill>
                <a:latin typeface="Verdana"/>
              </a:defRPr>
            </a:pPr>
            <a:r>
              <a:rPr dirty="0"/>
              <a:t>• </a:t>
            </a:r>
            <a:r>
              <a:rPr dirty="0" err="1"/>
              <a:t>Conflito</a:t>
            </a:r>
            <a:r>
              <a:rPr dirty="0"/>
              <a:t> de interesses: Marketing </a:t>
            </a:r>
            <a:r>
              <a:rPr dirty="0" err="1"/>
              <a:t>busca</a:t>
            </a:r>
            <a:r>
              <a:rPr dirty="0"/>
              <a:t> </a:t>
            </a:r>
            <a:r>
              <a:rPr dirty="0" err="1"/>
              <a:t>maximizar</a:t>
            </a:r>
            <a:r>
              <a:rPr dirty="0"/>
              <a:t> volume e </a:t>
            </a:r>
            <a:r>
              <a:rPr dirty="0" err="1"/>
              <a:t>metas</a:t>
            </a:r>
            <a:r>
              <a:rPr dirty="0"/>
              <a:t> </a:t>
            </a:r>
            <a:r>
              <a:rPr dirty="0" err="1"/>
              <a:t>Comerciais</a:t>
            </a:r>
            <a:r>
              <a:rPr dirty="0"/>
              <a:t>, </a:t>
            </a:r>
            <a:r>
              <a:rPr dirty="0" err="1"/>
              <a:t>inserindo</a:t>
            </a:r>
            <a:r>
              <a:rPr dirty="0"/>
              <a:t> '</a:t>
            </a:r>
            <a:r>
              <a:rPr dirty="0" err="1"/>
              <a:t>gordura</a:t>
            </a:r>
            <a:r>
              <a:rPr dirty="0"/>
              <a:t>' </a:t>
            </a:r>
            <a:r>
              <a:rPr dirty="0" err="1"/>
              <a:t>ou</a:t>
            </a:r>
            <a:r>
              <a:rPr dirty="0"/>
              <a:t> </a:t>
            </a:r>
            <a:r>
              <a:rPr dirty="0" err="1"/>
              <a:t>realizando</a:t>
            </a:r>
            <a:r>
              <a:rPr dirty="0"/>
              <a:t> cortes </a:t>
            </a:r>
            <a:r>
              <a:rPr dirty="0" err="1"/>
              <a:t>arbitrários</a:t>
            </a:r>
            <a:r>
              <a:rPr dirty="0"/>
              <a:t>.</a:t>
            </a:r>
            <a:br>
              <a:rPr dirty="0"/>
            </a:br>
            <a:r>
              <a:rPr dirty="0"/>
              <a:t>• </a:t>
            </a:r>
            <a:r>
              <a:rPr dirty="0" err="1"/>
              <a:t>Ausência</a:t>
            </a:r>
            <a:r>
              <a:rPr dirty="0"/>
              <a:t> de </a:t>
            </a:r>
            <a:r>
              <a:rPr dirty="0" err="1"/>
              <a:t>critérios</a:t>
            </a:r>
            <a:r>
              <a:rPr dirty="0"/>
              <a:t> </a:t>
            </a:r>
            <a:r>
              <a:rPr dirty="0" err="1"/>
              <a:t>formais</a:t>
            </a:r>
            <a:r>
              <a:rPr dirty="0"/>
              <a:t> </a:t>
            </a:r>
            <a:r>
              <a:rPr dirty="0" err="1"/>
              <a:t>ou</a:t>
            </a:r>
            <a:r>
              <a:rPr dirty="0"/>
              <a:t> </a:t>
            </a:r>
            <a:r>
              <a:rPr dirty="0" err="1"/>
              <a:t>retenção</a:t>
            </a:r>
            <a:r>
              <a:rPr dirty="0"/>
              <a:t> de histórico de </a:t>
            </a:r>
            <a:r>
              <a:rPr dirty="0" err="1"/>
              <a:t>alterações</a:t>
            </a:r>
            <a:r>
              <a:rPr dirty="0"/>
              <a:t> </a:t>
            </a:r>
            <a:r>
              <a:rPr dirty="0" err="1"/>
              <a:t>dificulta</a:t>
            </a:r>
            <a:r>
              <a:rPr dirty="0"/>
              <a:t> a auditoria e </a:t>
            </a:r>
            <a:r>
              <a:rPr dirty="0" err="1"/>
              <a:t>gera</a:t>
            </a:r>
            <a:r>
              <a:rPr dirty="0"/>
              <a:t> </a:t>
            </a:r>
            <a:r>
              <a:rPr dirty="0" err="1"/>
              <a:t>desalinhamento</a:t>
            </a:r>
            <a:r>
              <a:rPr dirty="0"/>
              <a:t> </a:t>
            </a:r>
            <a:r>
              <a:rPr dirty="0" err="1"/>
              <a:t>financeiro</a:t>
            </a:r>
            <a:r>
              <a:rPr dirty="0"/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68335" y="1554480"/>
            <a:ext cx="347472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defRPr sz="1100" b="1">
                <a:solidFill>
                  <a:srgbClr val="007A87"/>
                </a:solidFill>
                <a:latin typeface="Verdana"/>
              </a:defRPr>
            </a:pPr>
            <a:r>
              <a:rPr dirty="0"/>
              <a:t>IMPACTOS NO NEGÓCIO</a:t>
            </a:r>
          </a:p>
          <a:p>
            <a:pPr algn="ctr">
              <a:spcAft>
                <a:spcPts val="1000"/>
              </a:spcAft>
              <a:defRPr sz="3000" b="1">
                <a:solidFill>
                  <a:srgbClr val="1B2A4A"/>
                </a:solidFill>
                <a:latin typeface="Georgia"/>
              </a:defRPr>
            </a:pPr>
            <a:r>
              <a:rPr dirty="0">
                <a:latin typeface="+mj-lt"/>
              </a:rPr>
              <a:t>D&amp;O e Lost Sales</a:t>
            </a:r>
          </a:p>
          <a:p>
            <a:pPr>
              <a:spcAft>
                <a:spcPts val="1000"/>
              </a:spcAft>
              <a:defRPr sz="1400" b="1">
                <a:solidFill>
                  <a:srgbClr val="1A2530"/>
                </a:solidFill>
                <a:latin typeface="Verdana"/>
              </a:defRPr>
            </a:pPr>
            <a:r>
              <a:rPr dirty="0" err="1"/>
              <a:t>Desperdício</a:t>
            </a:r>
            <a:r>
              <a:rPr dirty="0"/>
              <a:t> e </a:t>
            </a:r>
            <a:r>
              <a:rPr dirty="0" err="1"/>
              <a:t>Ruptura</a:t>
            </a:r>
            <a:endParaRPr dirty="0"/>
          </a:p>
          <a:p>
            <a:pPr>
              <a:defRPr sz="1200">
                <a:solidFill>
                  <a:srgbClr val="5A6B7C"/>
                </a:solidFill>
                <a:latin typeface="Verdana"/>
              </a:defRPr>
            </a:pPr>
            <a:r>
              <a:rPr dirty="0"/>
              <a:t>• Lost Sales: </a:t>
            </a:r>
            <a:r>
              <a:rPr dirty="0" err="1"/>
              <a:t>Perda</a:t>
            </a:r>
            <a:r>
              <a:rPr dirty="0"/>
              <a:t> de </a:t>
            </a:r>
            <a:r>
              <a:rPr dirty="0" err="1"/>
              <a:t>receita</a:t>
            </a:r>
            <a:r>
              <a:rPr dirty="0"/>
              <a:t> </a:t>
            </a:r>
            <a:r>
              <a:rPr dirty="0" err="1"/>
              <a:t>direta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falta</a:t>
            </a:r>
            <a:r>
              <a:rPr dirty="0"/>
              <a:t> de </a:t>
            </a:r>
            <a:r>
              <a:rPr dirty="0" err="1"/>
              <a:t>produto</a:t>
            </a:r>
            <a:r>
              <a:rPr dirty="0"/>
              <a:t> </a:t>
            </a:r>
            <a:r>
              <a:rPr dirty="0" err="1"/>
              <a:t>frente</a:t>
            </a:r>
            <a:r>
              <a:rPr dirty="0"/>
              <a:t> à </a:t>
            </a:r>
            <a:r>
              <a:rPr dirty="0" err="1"/>
              <a:t>demanda</a:t>
            </a:r>
            <a:r>
              <a:rPr dirty="0"/>
              <a:t> real de mercado.</a:t>
            </a:r>
            <a:br>
              <a:rPr dirty="0"/>
            </a:br>
            <a:r>
              <a:rPr dirty="0"/>
              <a:t>• D&amp;O (</a:t>
            </a:r>
            <a:r>
              <a:rPr dirty="0" err="1"/>
              <a:t>Destruição</a:t>
            </a:r>
            <a:r>
              <a:rPr dirty="0"/>
              <a:t> &amp; </a:t>
            </a:r>
            <a:r>
              <a:rPr dirty="0" err="1"/>
              <a:t>Obsolescência</a:t>
            </a:r>
            <a:r>
              <a:rPr dirty="0"/>
              <a:t>): </a:t>
            </a:r>
            <a:r>
              <a:rPr dirty="0" err="1"/>
              <a:t>Prejuízo</a:t>
            </a:r>
            <a:r>
              <a:rPr dirty="0"/>
              <a:t> </a:t>
            </a:r>
            <a:r>
              <a:rPr dirty="0" err="1"/>
              <a:t>financeiro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descarte</a:t>
            </a:r>
            <a:r>
              <a:rPr dirty="0"/>
              <a:t> de </a:t>
            </a:r>
            <a:r>
              <a:rPr dirty="0" err="1"/>
              <a:t>medicamentos</a:t>
            </a:r>
            <a:r>
              <a:rPr dirty="0"/>
              <a:t> </a:t>
            </a:r>
            <a:r>
              <a:rPr dirty="0" err="1"/>
              <a:t>vencidos</a:t>
            </a:r>
            <a:r>
              <a:rPr dirty="0"/>
              <a:t> </a:t>
            </a:r>
            <a:r>
              <a:rPr dirty="0" err="1"/>
              <a:t>estocados</a:t>
            </a:r>
            <a:r>
              <a:rPr dirty="0"/>
              <a:t> em </a:t>
            </a:r>
            <a:r>
              <a:rPr dirty="0" err="1"/>
              <a:t>excesso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5B2CCA-186D-D716-A883-5790787F2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1B6B7C6-1ED8-DA2D-F501-E988D536926A}"/>
              </a:ext>
            </a:extLst>
          </p:cNvPr>
          <p:cNvSpPr txBox="1"/>
          <p:nvPr/>
        </p:nvSpPr>
        <p:spPr>
          <a:xfrm>
            <a:off x="548640" y="320040"/>
            <a:ext cx="1109441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7A87"/>
                </a:solidFill>
                <a:latin typeface="Verdana"/>
              </a:defRPr>
            </a:pPr>
            <a:r>
              <a:t>PROJETO GO &amp; CS | INDÚSTRIA FARMACÊUTICA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8C93F6-496E-870C-3F85-E164A6553429}"/>
              </a:ext>
            </a:extLst>
          </p:cNvPr>
          <p:cNvSpPr txBox="1"/>
          <p:nvPr/>
        </p:nvSpPr>
        <p:spPr>
          <a:xfrm>
            <a:off x="548640" y="594360"/>
            <a:ext cx="11094415" cy="77724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defRPr sz="2200" b="1">
                <a:solidFill>
                  <a:srgbClr val="1B2A4A"/>
                </a:solidFill>
                <a:latin typeface="Georgia"/>
              </a:defRPr>
            </a:pPr>
            <a:r>
              <a:rPr dirty="0" err="1"/>
              <a:t>Mapeamento</a:t>
            </a:r>
            <a:r>
              <a:rPr dirty="0"/>
              <a:t> AS-IS </a:t>
            </a:r>
            <a:r>
              <a:rPr dirty="0" err="1"/>
              <a:t>Ilustra</a:t>
            </a:r>
            <a:r>
              <a:rPr dirty="0"/>
              <a:t> o </a:t>
            </a:r>
            <a:r>
              <a:rPr dirty="0" err="1"/>
              <a:t>Fluxo</a:t>
            </a:r>
            <a:r>
              <a:rPr dirty="0"/>
              <a:t> Manual e </a:t>
            </a:r>
            <a:r>
              <a:rPr dirty="0" err="1"/>
              <a:t>os</a:t>
            </a:r>
            <a:r>
              <a:rPr dirty="0"/>
              <a:t> Pontos de </a:t>
            </a:r>
            <a:r>
              <a:rPr dirty="0" err="1"/>
              <a:t>Atrito</a:t>
            </a:r>
            <a:r>
              <a:rPr dirty="0"/>
              <a:t> </a:t>
            </a:r>
            <a:r>
              <a:rPr dirty="0" err="1"/>
              <a:t>Interdepartamental</a:t>
            </a:r>
            <a:endParaRPr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132C1AF-C8B2-53F6-6125-CB714554C6B3}"/>
              </a:ext>
            </a:extLst>
          </p:cNvPr>
          <p:cNvSpPr/>
          <p:nvPr/>
        </p:nvSpPr>
        <p:spPr>
          <a:xfrm>
            <a:off x="548640" y="1371600"/>
            <a:ext cx="11094415" cy="25400"/>
          </a:xfrm>
          <a:prstGeom prst="rect">
            <a:avLst/>
          </a:prstGeom>
          <a:solidFill>
            <a:srgbClr val="2A4D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56497697-BAA2-DA04-B6C5-0D17E0CCA8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356" y="1497023"/>
            <a:ext cx="9806688" cy="5040937"/>
          </a:xfrm>
          <a:prstGeom prst="rect">
            <a:avLst/>
          </a:prstGeom>
        </p:spPr>
      </p:pic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ADC52ED-3482-C78D-3F53-FF4B31363513}"/>
              </a:ext>
            </a:extLst>
          </p:cNvPr>
          <p:cNvSpPr/>
          <p:nvPr/>
        </p:nvSpPr>
        <p:spPr>
          <a:xfrm>
            <a:off x="10247044" y="1645920"/>
            <a:ext cx="1504600" cy="494126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>
              <a:defRPr sz="1100" b="1">
                <a:solidFill>
                  <a:srgbClr val="1B2A4A"/>
                </a:solidFill>
                <a:latin typeface="Verdana"/>
              </a:defRPr>
            </a:pPr>
            <a:r>
              <a:rPr lang="pt-BR" sz="800" dirty="0"/>
              <a:t>• Etapa 1 — Coleta Comercial</a:t>
            </a:r>
          </a:p>
          <a:p>
            <a:pPr>
              <a:spcAft>
                <a:spcPts val="600"/>
              </a:spcAft>
              <a:defRPr sz="1000">
                <a:solidFill>
                  <a:srgbClr val="5A6B7C"/>
                </a:solidFill>
                <a:latin typeface="Verdana"/>
              </a:defRPr>
            </a:pPr>
            <a:r>
              <a:rPr sz="600" dirty="0"/>
              <a:t>Marketing coleta a </a:t>
            </a:r>
            <a:r>
              <a:rPr sz="600" dirty="0" err="1"/>
              <a:t>expectativa</a:t>
            </a:r>
            <a:r>
              <a:rPr sz="600" dirty="0"/>
              <a:t> mensal de </a:t>
            </a:r>
            <a:r>
              <a:rPr sz="600" dirty="0" err="1"/>
              <a:t>vendas</a:t>
            </a:r>
            <a:r>
              <a:rPr sz="600" dirty="0"/>
              <a:t> com </a:t>
            </a:r>
            <a:r>
              <a:rPr sz="600" dirty="0" err="1"/>
              <a:t>Comercial</a:t>
            </a:r>
            <a:r>
              <a:rPr sz="600" dirty="0"/>
              <a:t> para </a:t>
            </a:r>
            <a:r>
              <a:rPr sz="600" dirty="0" err="1"/>
              <a:t>projeção</a:t>
            </a:r>
            <a:r>
              <a:rPr sz="600" dirty="0"/>
              <a:t> de 24 meses.</a:t>
            </a:r>
          </a:p>
          <a:p>
            <a:pPr>
              <a:defRPr sz="1100" b="1">
                <a:solidFill>
                  <a:srgbClr val="1B2A4A"/>
                </a:solidFill>
                <a:latin typeface="Verdana"/>
              </a:defRPr>
            </a:pPr>
            <a:r>
              <a:rPr sz="800" dirty="0"/>
              <a:t>• Etapa 2 — </a:t>
            </a:r>
            <a:r>
              <a:rPr sz="800" dirty="0" err="1"/>
              <a:t>Ajustes</a:t>
            </a:r>
            <a:r>
              <a:rPr sz="800" dirty="0"/>
              <a:t> </a:t>
            </a:r>
            <a:r>
              <a:rPr sz="800" dirty="0" err="1"/>
              <a:t>Manuais</a:t>
            </a:r>
            <a:endParaRPr sz="800" dirty="0"/>
          </a:p>
          <a:p>
            <a:pPr>
              <a:spcAft>
                <a:spcPts val="600"/>
              </a:spcAft>
              <a:defRPr sz="1000">
                <a:solidFill>
                  <a:srgbClr val="5A6B7C"/>
                </a:solidFill>
                <a:latin typeface="Verdana"/>
              </a:defRPr>
            </a:pPr>
            <a:r>
              <a:rPr sz="600" dirty="0"/>
              <a:t>Marketing </a:t>
            </a:r>
            <a:r>
              <a:rPr sz="600" dirty="0" err="1"/>
              <a:t>consolida</a:t>
            </a:r>
            <a:r>
              <a:rPr sz="600" dirty="0"/>
              <a:t> dados no AERA </a:t>
            </a:r>
            <a:r>
              <a:rPr sz="600" dirty="0" err="1"/>
              <a:t>aplicandogorduras</a:t>
            </a:r>
            <a:r>
              <a:rPr sz="600" dirty="0"/>
              <a:t> </a:t>
            </a:r>
            <a:r>
              <a:rPr sz="600" dirty="0" err="1"/>
              <a:t>ou</a:t>
            </a:r>
            <a:r>
              <a:rPr sz="600" dirty="0"/>
              <a:t> cortes </a:t>
            </a:r>
            <a:r>
              <a:rPr sz="600" dirty="0" err="1"/>
              <a:t>subjetivos</a:t>
            </a:r>
            <a:r>
              <a:rPr sz="600" dirty="0"/>
              <a:t> </a:t>
            </a:r>
            <a:r>
              <a:rPr sz="600" dirty="0" err="1"/>
              <a:t>sem</a:t>
            </a:r>
            <a:r>
              <a:rPr sz="600" dirty="0"/>
              <a:t> </a:t>
            </a:r>
            <a:r>
              <a:rPr sz="600" dirty="0" err="1"/>
              <a:t>registro</a:t>
            </a:r>
            <a:r>
              <a:rPr sz="600" dirty="0"/>
              <a:t> formal de </a:t>
            </a:r>
            <a:r>
              <a:rPr sz="600" dirty="0" err="1"/>
              <a:t>justificativa</a:t>
            </a:r>
            <a:r>
              <a:rPr sz="600" dirty="0"/>
              <a:t>.</a:t>
            </a:r>
          </a:p>
          <a:p>
            <a:pPr>
              <a:defRPr sz="1100" b="1">
                <a:solidFill>
                  <a:srgbClr val="1B2A4A"/>
                </a:solidFill>
                <a:latin typeface="Verdana"/>
              </a:defRPr>
            </a:pPr>
            <a:r>
              <a:rPr sz="800" dirty="0"/>
              <a:t>• Etapa 3 — Sanity Check Local</a:t>
            </a:r>
          </a:p>
          <a:p>
            <a:pPr>
              <a:spcAft>
                <a:spcPts val="600"/>
              </a:spcAft>
              <a:defRPr sz="1000">
                <a:solidFill>
                  <a:srgbClr val="5A6B7C"/>
                </a:solidFill>
                <a:latin typeface="Verdana"/>
              </a:defRPr>
            </a:pPr>
            <a:r>
              <a:rPr sz="600" dirty="0"/>
              <a:t>Supply Chain Local </a:t>
            </a:r>
            <a:r>
              <a:rPr sz="600" dirty="0" err="1"/>
              <a:t>consolida</a:t>
            </a:r>
            <a:r>
              <a:rPr sz="600" dirty="0"/>
              <a:t> e </a:t>
            </a:r>
            <a:r>
              <a:rPr sz="600" dirty="0" err="1"/>
              <a:t>compara</a:t>
            </a:r>
            <a:r>
              <a:rPr sz="600" dirty="0"/>
              <a:t> com o Plano </a:t>
            </a:r>
            <a:r>
              <a:rPr sz="600" dirty="0" err="1"/>
              <a:t>Financeiro</a:t>
            </a:r>
            <a:r>
              <a:rPr sz="600" dirty="0"/>
              <a:t> (SAP Analytics Cloud Planning).</a:t>
            </a:r>
          </a:p>
          <a:p>
            <a:pPr>
              <a:defRPr sz="1100" b="1">
                <a:solidFill>
                  <a:srgbClr val="1B2A4A"/>
                </a:solidFill>
                <a:latin typeface="Verdana"/>
              </a:defRPr>
            </a:pPr>
            <a:r>
              <a:rPr sz="800" dirty="0"/>
              <a:t>• Etapa 4 — </a:t>
            </a:r>
            <a:r>
              <a:rPr sz="800" dirty="0" err="1"/>
              <a:t>Produção</a:t>
            </a:r>
            <a:r>
              <a:rPr sz="800" dirty="0"/>
              <a:t> Global</a:t>
            </a:r>
          </a:p>
          <a:p>
            <a:pPr>
              <a:spcAft>
                <a:spcPts val="600"/>
              </a:spcAft>
              <a:defRPr sz="1000">
                <a:solidFill>
                  <a:srgbClr val="5A6B7C"/>
                </a:solidFill>
                <a:latin typeface="Verdana"/>
              </a:defRPr>
            </a:pPr>
            <a:r>
              <a:rPr sz="600" dirty="0"/>
              <a:t>Fábricas </a:t>
            </a:r>
            <a:r>
              <a:rPr sz="600" dirty="0" err="1"/>
              <a:t>globais</a:t>
            </a:r>
            <a:r>
              <a:rPr sz="600" dirty="0"/>
              <a:t> </a:t>
            </a:r>
            <a:r>
              <a:rPr sz="600" dirty="0" err="1"/>
              <a:t>recebem</a:t>
            </a:r>
            <a:r>
              <a:rPr sz="600" dirty="0"/>
              <a:t> a </a:t>
            </a:r>
            <a:r>
              <a:rPr sz="600" dirty="0" err="1"/>
              <a:t>demanda</a:t>
            </a:r>
            <a:r>
              <a:rPr sz="600" dirty="0"/>
              <a:t> com lead time </a:t>
            </a:r>
            <a:r>
              <a:rPr sz="600" dirty="0" err="1"/>
              <a:t>médio</a:t>
            </a:r>
            <a:r>
              <a:rPr sz="600" dirty="0"/>
              <a:t> de 5 meses </a:t>
            </a:r>
            <a:r>
              <a:rPr sz="600" dirty="0" err="1"/>
              <a:t>até</a:t>
            </a:r>
            <a:r>
              <a:rPr sz="600" dirty="0"/>
              <a:t> a filial </a:t>
            </a:r>
            <a:r>
              <a:rPr sz="600" dirty="0" err="1"/>
              <a:t>Brasil</a:t>
            </a:r>
            <a:r>
              <a:rPr sz="600" dirty="0"/>
              <a:t>.</a:t>
            </a:r>
          </a:p>
          <a:p>
            <a:pPr>
              <a:defRPr sz="1100" b="1">
                <a:solidFill>
                  <a:srgbClr val="1B2A4A"/>
                </a:solidFill>
                <a:latin typeface="Verdana"/>
              </a:defRPr>
            </a:pPr>
            <a:r>
              <a:rPr sz="800" dirty="0"/>
              <a:t>• Etapa 5 — </a:t>
            </a:r>
            <a:r>
              <a:rPr sz="800" dirty="0" err="1"/>
              <a:t>Logística</a:t>
            </a:r>
            <a:r>
              <a:rPr sz="800" dirty="0"/>
              <a:t> &amp; Venda</a:t>
            </a:r>
          </a:p>
          <a:p>
            <a:pPr>
              <a:spcAft>
                <a:spcPts val="600"/>
              </a:spcAft>
              <a:defRPr sz="1000">
                <a:solidFill>
                  <a:srgbClr val="5A6B7C"/>
                </a:solidFill>
                <a:latin typeface="Verdana"/>
              </a:defRPr>
            </a:pPr>
            <a:r>
              <a:rPr sz="600" dirty="0"/>
              <a:t>Transporte (</a:t>
            </a:r>
            <a:r>
              <a:rPr sz="600" dirty="0" err="1"/>
              <a:t>aéreo</a:t>
            </a:r>
            <a:r>
              <a:rPr sz="600" dirty="0"/>
              <a:t>/</a:t>
            </a:r>
            <a:r>
              <a:rPr sz="600" dirty="0" err="1"/>
              <a:t>marítimo</a:t>
            </a:r>
            <a:r>
              <a:rPr sz="600" dirty="0"/>
              <a:t>), </a:t>
            </a:r>
            <a:r>
              <a:rPr sz="600" dirty="0" err="1"/>
              <a:t>desembaraço</a:t>
            </a:r>
            <a:r>
              <a:rPr sz="600" dirty="0"/>
              <a:t>, </a:t>
            </a:r>
            <a:r>
              <a:rPr sz="600" dirty="0" err="1"/>
              <a:t>operador</a:t>
            </a:r>
            <a:r>
              <a:rPr sz="600" dirty="0"/>
              <a:t> </a:t>
            </a:r>
            <a:r>
              <a:rPr sz="600" dirty="0" err="1"/>
              <a:t>logístico</a:t>
            </a:r>
            <a:r>
              <a:rPr sz="600" dirty="0"/>
              <a:t> e </a:t>
            </a:r>
            <a:r>
              <a:rPr sz="600" dirty="0" err="1"/>
              <a:t>liberação</a:t>
            </a:r>
            <a:r>
              <a:rPr sz="600" dirty="0"/>
              <a:t> </a:t>
            </a:r>
            <a:r>
              <a:rPr sz="600" dirty="0" err="1"/>
              <a:t>comercial</a:t>
            </a:r>
            <a:r>
              <a:rPr sz="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186105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7A87"/>
                </a:solidFill>
                <a:latin typeface="Verdana"/>
              </a:defRPr>
            </a:pPr>
            <a:r>
              <a:t>PROJETO GO &amp; CS | INDÚSTRIA FARMACÊUTICA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415" cy="77724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defRPr sz="2200" b="1">
                <a:solidFill>
                  <a:srgbClr val="1B2A4A"/>
                </a:solidFill>
                <a:latin typeface="Georgia"/>
              </a:defRPr>
            </a:pPr>
            <a:r>
              <a:rPr dirty="0" err="1"/>
              <a:t>Redesenho</a:t>
            </a:r>
            <a:r>
              <a:rPr dirty="0"/>
              <a:t> TO-BE </a:t>
            </a:r>
            <a:r>
              <a:rPr dirty="0" err="1"/>
              <a:t>Automatiza</a:t>
            </a:r>
            <a:r>
              <a:rPr dirty="0"/>
              <a:t> </a:t>
            </a:r>
            <a:r>
              <a:rPr dirty="0" err="1"/>
              <a:t>Proposta</a:t>
            </a:r>
            <a:r>
              <a:rPr dirty="0"/>
              <a:t> </a:t>
            </a:r>
            <a:r>
              <a:rPr dirty="0" err="1"/>
              <a:t>Inicial</a:t>
            </a:r>
            <a:r>
              <a:rPr dirty="0"/>
              <a:t> e Exige </a:t>
            </a:r>
            <a:r>
              <a:rPr dirty="0" err="1"/>
              <a:t>Justificativa</a:t>
            </a:r>
            <a:r>
              <a:rPr dirty="0"/>
              <a:t> e </a:t>
            </a:r>
            <a:r>
              <a:rPr dirty="0" err="1"/>
              <a:t>Governança</a:t>
            </a: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11094415" cy="25400"/>
          </a:xfrm>
          <a:prstGeom prst="rect">
            <a:avLst/>
          </a:prstGeom>
          <a:solidFill>
            <a:srgbClr val="2A4D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71B9A486-5BC8-EB80-4EDC-E7BA64D31A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1" y="1554481"/>
            <a:ext cx="9587818" cy="4940661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10175490" y="1554480"/>
            <a:ext cx="1544443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>
              <a:defRPr sz="1100" b="1">
                <a:solidFill>
                  <a:srgbClr val="1B2A4A"/>
                </a:solidFill>
                <a:latin typeface="Verdana"/>
              </a:defRPr>
            </a:pPr>
            <a:r>
              <a:rPr lang="pt-BR" sz="800" dirty="0"/>
              <a:t>• </a:t>
            </a:r>
            <a:r>
              <a:rPr sz="800" dirty="0"/>
              <a:t>Etapa 1 (</a:t>
            </a:r>
            <a:r>
              <a:rPr sz="800" dirty="0" err="1"/>
              <a:t>Redesenhada</a:t>
            </a:r>
            <a:r>
              <a:rPr sz="800" dirty="0"/>
              <a:t>)</a:t>
            </a:r>
          </a:p>
          <a:p>
            <a:pPr>
              <a:spcAft>
                <a:spcPts val="600"/>
              </a:spcAft>
              <a:defRPr sz="1000">
                <a:solidFill>
                  <a:srgbClr val="5A6B7C"/>
                </a:solidFill>
                <a:latin typeface="Verdana"/>
              </a:defRPr>
            </a:pPr>
            <a:r>
              <a:rPr sz="600" dirty="0"/>
              <a:t>AERA </a:t>
            </a:r>
            <a:r>
              <a:rPr sz="600" dirty="0" err="1"/>
              <a:t>gera</a:t>
            </a:r>
            <a:r>
              <a:rPr sz="600" dirty="0"/>
              <a:t> </a:t>
            </a:r>
            <a:r>
              <a:rPr sz="600" dirty="0" err="1"/>
              <a:t>proposta</a:t>
            </a:r>
            <a:r>
              <a:rPr sz="600" dirty="0"/>
              <a:t> </a:t>
            </a:r>
            <a:r>
              <a:rPr sz="600" dirty="0" err="1"/>
              <a:t>inicial</a:t>
            </a:r>
            <a:r>
              <a:rPr sz="600" dirty="0"/>
              <a:t> </a:t>
            </a:r>
            <a:r>
              <a:rPr sz="600" dirty="0" err="1"/>
              <a:t>automática</a:t>
            </a:r>
            <a:r>
              <a:rPr sz="600" dirty="0"/>
              <a:t> a </a:t>
            </a:r>
            <a:r>
              <a:rPr sz="600" dirty="0" err="1"/>
              <a:t>partir</a:t>
            </a:r>
            <a:r>
              <a:rPr sz="600" dirty="0"/>
              <a:t> do Plano </a:t>
            </a:r>
            <a:r>
              <a:rPr sz="600" dirty="0" err="1"/>
              <a:t>Financeiro</a:t>
            </a:r>
            <a:r>
              <a:rPr sz="600" dirty="0"/>
              <a:t> </a:t>
            </a:r>
            <a:r>
              <a:rPr sz="600" dirty="0" err="1"/>
              <a:t>aprovado</a:t>
            </a:r>
            <a:r>
              <a:rPr sz="600" dirty="0"/>
              <a:t> </a:t>
            </a:r>
            <a:r>
              <a:rPr sz="600" dirty="0" err="1"/>
              <a:t>por</a:t>
            </a:r>
            <a:r>
              <a:rPr sz="600" dirty="0"/>
              <a:t> SKU.</a:t>
            </a:r>
          </a:p>
          <a:p>
            <a:pPr>
              <a:defRPr sz="1100" b="1">
                <a:solidFill>
                  <a:srgbClr val="1B2A4A"/>
                </a:solidFill>
                <a:latin typeface="Verdana"/>
              </a:defRPr>
            </a:pPr>
            <a:r>
              <a:rPr lang="pt-BR" sz="800" dirty="0"/>
              <a:t>•</a:t>
            </a:r>
            <a:r>
              <a:rPr sz="800" dirty="0"/>
              <a:t> Etapa 2 (</a:t>
            </a:r>
            <a:r>
              <a:rPr sz="800" dirty="0" err="1"/>
              <a:t>Redesenhada</a:t>
            </a:r>
            <a:r>
              <a:rPr sz="800" dirty="0"/>
              <a:t>)</a:t>
            </a:r>
          </a:p>
          <a:p>
            <a:pPr>
              <a:spcAft>
                <a:spcPts val="600"/>
              </a:spcAft>
              <a:defRPr sz="1000">
                <a:solidFill>
                  <a:srgbClr val="5A6B7C"/>
                </a:solidFill>
                <a:latin typeface="Verdana"/>
              </a:defRPr>
            </a:pPr>
            <a:r>
              <a:rPr sz="600" dirty="0"/>
              <a:t>Marketing </a:t>
            </a:r>
            <a:r>
              <a:rPr sz="600" dirty="0" err="1"/>
              <a:t>avalia</a:t>
            </a:r>
            <a:r>
              <a:rPr sz="600" dirty="0"/>
              <a:t> e </a:t>
            </a:r>
            <a:r>
              <a:rPr sz="600" dirty="0" err="1"/>
              <a:t>submete</a:t>
            </a:r>
            <a:r>
              <a:rPr sz="600" dirty="0"/>
              <a:t> </a:t>
            </a:r>
            <a:r>
              <a:rPr sz="600" dirty="0" err="1"/>
              <a:t>solicitações</a:t>
            </a:r>
            <a:r>
              <a:rPr sz="600" dirty="0"/>
              <a:t> com valor, </a:t>
            </a:r>
            <a:r>
              <a:rPr sz="600" dirty="0" err="1"/>
              <a:t>justificativa</a:t>
            </a:r>
            <a:r>
              <a:rPr sz="600" dirty="0"/>
              <a:t> e </a:t>
            </a:r>
            <a:r>
              <a:rPr sz="600" dirty="0" err="1"/>
              <a:t>comentário</a:t>
            </a:r>
            <a:r>
              <a:rPr sz="600" dirty="0"/>
              <a:t> </a:t>
            </a:r>
            <a:r>
              <a:rPr sz="600" dirty="0" err="1"/>
              <a:t>obrigatórios</a:t>
            </a:r>
            <a:r>
              <a:rPr sz="600" dirty="0"/>
              <a:t>.</a:t>
            </a:r>
          </a:p>
          <a:p>
            <a:pPr>
              <a:defRPr sz="1100" b="1">
                <a:solidFill>
                  <a:srgbClr val="1B2A4A"/>
                </a:solidFill>
                <a:latin typeface="Verdana"/>
              </a:defRPr>
            </a:pPr>
            <a:r>
              <a:rPr lang="pt-BR" sz="800" dirty="0"/>
              <a:t>•</a:t>
            </a:r>
            <a:r>
              <a:rPr sz="800" dirty="0"/>
              <a:t> </a:t>
            </a:r>
            <a:r>
              <a:rPr sz="800" dirty="0" err="1"/>
              <a:t>Regra</a:t>
            </a:r>
            <a:r>
              <a:rPr sz="800" dirty="0"/>
              <a:t> de </a:t>
            </a:r>
            <a:r>
              <a:rPr sz="800" dirty="0" err="1"/>
              <a:t>Autorização</a:t>
            </a:r>
            <a:endParaRPr sz="800" dirty="0"/>
          </a:p>
          <a:p>
            <a:pPr>
              <a:spcAft>
                <a:spcPts val="600"/>
              </a:spcAft>
              <a:defRPr sz="1000">
                <a:solidFill>
                  <a:srgbClr val="5A6B7C"/>
                </a:solidFill>
                <a:latin typeface="Verdana"/>
              </a:defRPr>
            </a:pPr>
            <a:r>
              <a:rPr sz="600" dirty="0" err="1"/>
              <a:t>Ajuste</a:t>
            </a:r>
            <a:r>
              <a:rPr sz="600" dirty="0"/>
              <a:t> </a:t>
            </a:r>
            <a:r>
              <a:rPr sz="600" dirty="0" err="1"/>
              <a:t>só</a:t>
            </a:r>
            <a:r>
              <a:rPr sz="600" dirty="0"/>
              <a:t> é </a:t>
            </a:r>
            <a:r>
              <a:rPr sz="600" dirty="0" err="1"/>
              <a:t>autorizado</a:t>
            </a:r>
            <a:r>
              <a:rPr sz="600" dirty="0"/>
              <a:t> se superior </a:t>
            </a:r>
            <a:r>
              <a:rPr sz="600" dirty="0" err="1"/>
              <a:t>ao</a:t>
            </a:r>
            <a:r>
              <a:rPr sz="600" dirty="0"/>
              <a:t> </a:t>
            </a:r>
            <a:r>
              <a:rPr sz="600" dirty="0" err="1"/>
              <a:t>limite</a:t>
            </a:r>
            <a:r>
              <a:rPr sz="600" dirty="0"/>
              <a:t> </a:t>
            </a:r>
            <a:r>
              <a:rPr sz="600" dirty="0" err="1"/>
              <a:t>mínimo</a:t>
            </a:r>
            <a:r>
              <a:rPr sz="600" dirty="0"/>
              <a:t> </a:t>
            </a:r>
            <a:r>
              <a:rPr sz="600" dirty="0" err="1"/>
              <a:t>configurado</a:t>
            </a:r>
            <a:r>
              <a:rPr sz="600" dirty="0"/>
              <a:t> </a:t>
            </a:r>
            <a:r>
              <a:rPr sz="600" dirty="0" err="1"/>
              <a:t>pelo</a:t>
            </a:r>
            <a:r>
              <a:rPr sz="600" dirty="0"/>
              <a:t> Global Supply Chain.</a:t>
            </a:r>
          </a:p>
          <a:p>
            <a:pPr>
              <a:defRPr sz="1100" b="1">
                <a:solidFill>
                  <a:srgbClr val="1B2A4A"/>
                </a:solidFill>
                <a:latin typeface="Verdana"/>
              </a:defRPr>
            </a:pPr>
            <a:r>
              <a:rPr lang="pt-BR" sz="800" dirty="0"/>
              <a:t>•</a:t>
            </a:r>
            <a:r>
              <a:rPr sz="800" dirty="0"/>
              <a:t> Trilha de Auditoria</a:t>
            </a:r>
          </a:p>
          <a:p>
            <a:pPr>
              <a:spcAft>
                <a:spcPts val="600"/>
              </a:spcAft>
              <a:defRPr sz="1000">
                <a:solidFill>
                  <a:srgbClr val="5A6B7C"/>
                </a:solidFill>
                <a:latin typeface="Verdana"/>
              </a:defRPr>
            </a:pPr>
            <a:r>
              <a:rPr sz="600" dirty="0"/>
              <a:t>AERA </a:t>
            </a:r>
            <a:r>
              <a:rPr sz="600" dirty="0" err="1"/>
              <a:t>retém</a:t>
            </a:r>
            <a:r>
              <a:rPr sz="600" dirty="0"/>
              <a:t> </a:t>
            </a:r>
            <a:r>
              <a:rPr sz="600" dirty="0" err="1"/>
              <a:t>solicitações</a:t>
            </a:r>
            <a:r>
              <a:rPr sz="600" dirty="0"/>
              <a:t> </a:t>
            </a:r>
            <a:r>
              <a:rPr sz="600" dirty="0" err="1"/>
              <a:t>aprovadas</a:t>
            </a:r>
            <a:r>
              <a:rPr sz="600" dirty="0"/>
              <a:t> e </a:t>
            </a:r>
            <a:r>
              <a:rPr sz="600" dirty="0" err="1"/>
              <a:t>negadas</a:t>
            </a:r>
            <a:r>
              <a:rPr sz="600" dirty="0"/>
              <a:t>, </a:t>
            </a:r>
            <a:r>
              <a:rPr sz="600" dirty="0" err="1"/>
              <a:t>usuário</a:t>
            </a:r>
            <a:r>
              <a:rPr sz="600" dirty="0"/>
              <a:t>, data/hora para </a:t>
            </a:r>
            <a:r>
              <a:rPr sz="600" dirty="0" err="1"/>
              <a:t>análise</a:t>
            </a:r>
            <a:r>
              <a:rPr sz="600" dirty="0"/>
              <a:t> de </a:t>
            </a:r>
            <a:r>
              <a:rPr sz="600" dirty="0" err="1"/>
              <a:t>risco</a:t>
            </a:r>
            <a:r>
              <a:rPr sz="600" dirty="0"/>
              <a:t>.</a:t>
            </a:r>
          </a:p>
          <a:p>
            <a:pPr>
              <a:defRPr sz="1100" b="1">
                <a:solidFill>
                  <a:srgbClr val="1B2A4A"/>
                </a:solidFill>
                <a:latin typeface="Verdana"/>
              </a:defRPr>
            </a:pPr>
            <a:r>
              <a:rPr lang="pt-BR" sz="800" dirty="0"/>
              <a:t>•</a:t>
            </a:r>
            <a:r>
              <a:rPr sz="800" dirty="0"/>
              <a:t> </a:t>
            </a:r>
            <a:r>
              <a:rPr sz="800" dirty="0" err="1"/>
              <a:t>Etapas</a:t>
            </a:r>
            <a:r>
              <a:rPr sz="800" dirty="0"/>
              <a:t> </a:t>
            </a:r>
            <a:r>
              <a:rPr sz="800" dirty="0" err="1"/>
              <a:t>Preservadas</a:t>
            </a:r>
            <a:r>
              <a:rPr sz="800" dirty="0"/>
              <a:t> (3 a 5)</a:t>
            </a:r>
          </a:p>
          <a:p>
            <a:pPr>
              <a:spcAft>
                <a:spcPts val="600"/>
              </a:spcAft>
              <a:defRPr sz="1000">
                <a:solidFill>
                  <a:srgbClr val="5A6B7C"/>
                </a:solidFill>
                <a:latin typeface="Verdana"/>
              </a:defRPr>
            </a:pPr>
            <a:r>
              <a:rPr sz="600" dirty="0" err="1"/>
              <a:t>Manutenção</a:t>
            </a:r>
            <a:r>
              <a:rPr sz="600" dirty="0"/>
              <a:t> integral do Sanity Check de Supply Chain Local, </a:t>
            </a:r>
            <a:r>
              <a:rPr sz="600" dirty="0" err="1"/>
              <a:t>fábrica</a:t>
            </a:r>
            <a:r>
              <a:rPr sz="600" dirty="0"/>
              <a:t> e </a:t>
            </a:r>
            <a:r>
              <a:rPr sz="600" dirty="0" err="1"/>
              <a:t>logística</a:t>
            </a:r>
            <a:r>
              <a:rPr sz="600" dirty="0"/>
              <a:t> global.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7A87"/>
                </a:solidFill>
                <a:latin typeface="Verdana"/>
              </a:defRPr>
            </a:pPr>
            <a:r>
              <a:t>PROJETO GO &amp; CS | INDÚSTRIA FARMACÊUTICA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415" cy="77724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defRPr sz="2200" b="1">
                <a:solidFill>
                  <a:srgbClr val="1B2A4A"/>
                </a:solidFill>
                <a:latin typeface="Georgia"/>
              </a:defRPr>
            </a:pPr>
            <a:r>
              <a:rPr dirty="0"/>
              <a:t>Pré-</a:t>
            </a:r>
            <a:r>
              <a:rPr dirty="0" err="1"/>
              <a:t>requisitos</a:t>
            </a:r>
            <a:r>
              <a:rPr dirty="0"/>
              <a:t> </a:t>
            </a:r>
            <a:r>
              <a:rPr dirty="0" err="1"/>
              <a:t>Obrigatórios</a:t>
            </a:r>
            <a:r>
              <a:rPr dirty="0"/>
              <a:t> de </a:t>
            </a:r>
            <a:r>
              <a:rPr dirty="0" err="1"/>
              <a:t>Governança</a:t>
            </a:r>
            <a:r>
              <a:rPr dirty="0"/>
              <a:t> Antes da </a:t>
            </a:r>
            <a:r>
              <a:rPr dirty="0" err="1"/>
              <a:t>Configuração</a:t>
            </a: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11094415" cy="25400"/>
          </a:xfrm>
          <a:prstGeom prst="rect">
            <a:avLst/>
          </a:prstGeom>
          <a:solidFill>
            <a:srgbClr val="2A4D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11094415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defRPr sz="1200" b="1">
                <a:solidFill>
                  <a:srgbClr val="1B2A4A"/>
                </a:solidFill>
                <a:latin typeface="Verdana"/>
              </a:defRPr>
            </a:pPr>
            <a:r>
              <a:rPr dirty="0"/>
              <a:t>1. </a:t>
            </a:r>
            <a:r>
              <a:rPr dirty="0" err="1"/>
              <a:t>Regra</a:t>
            </a:r>
            <a:r>
              <a:rPr dirty="0"/>
              <a:t> de </a:t>
            </a:r>
            <a:r>
              <a:rPr dirty="0" err="1"/>
              <a:t>Autorização</a:t>
            </a:r>
            <a:endParaRPr dirty="0"/>
          </a:p>
          <a:p>
            <a:pPr>
              <a:defRPr sz="1050">
                <a:solidFill>
                  <a:srgbClr val="5A6B7C"/>
                </a:solidFill>
                <a:latin typeface="Verdana"/>
              </a:defRPr>
            </a:pPr>
            <a:r>
              <a:rPr dirty="0" err="1"/>
              <a:t>Definição</a:t>
            </a:r>
            <a:r>
              <a:rPr dirty="0"/>
              <a:t> formal de </a:t>
            </a:r>
            <a:r>
              <a:rPr dirty="0" err="1"/>
              <a:t>limite</a:t>
            </a:r>
            <a:r>
              <a:rPr dirty="0"/>
              <a:t> </a:t>
            </a:r>
            <a:r>
              <a:rPr dirty="0" err="1"/>
              <a:t>mínimo</a:t>
            </a:r>
            <a:r>
              <a:rPr lang="pt-BR" dirty="0"/>
              <a:t> para efetuar alterações no valor total por SKU contido no </a:t>
            </a:r>
            <a:r>
              <a:rPr lang="pt-BR" dirty="0" err="1"/>
              <a:t>forecast</a:t>
            </a:r>
            <a:r>
              <a:rPr lang="pt-BR" dirty="0"/>
              <a:t> gerado pela automação do AERA</a:t>
            </a: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548640" y="2487168"/>
            <a:ext cx="11094415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defRPr sz="1200" b="1">
                <a:solidFill>
                  <a:srgbClr val="1B2A4A"/>
                </a:solidFill>
                <a:latin typeface="Verdana"/>
              </a:defRPr>
            </a:pPr>
            <a:r>
              <a:rPr dirty="0"/>
              <a:t>2. Fonte </a:t>
            </a:r>
            <a:r>
              <a:rPr dirty="0" err="1"/>
              <a:t>Financeira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SKU</a:t>
            </a:r>
          </a:p>
          <a:p>
            <a:pPr>
              <a:defRPr sz="1050">
                <a:solidFill>
                  <a:srgbClr val="5A6B7C"/>
                </a:solidFill>
                <a:latin typeface="Verdana"/>
              </a:defRPr>
            </a:pPr>
            <a:r>
              <a:rPr dirty="0" err="1"/>
              <a:t>Identificação</a:t>
            </a:r>
            <a:r>
              <a:rPr dirty="0"/>
              <a:t> da</a:t>
            </a:r>
            <a:r>
              <a:rPr lang="pt-BR" dirty="0"/>
              <a:t> última</a:t>
            </a:r>
            <a:r>
              <a:rPr dirty="0"/>
              <a:t> </a:t>
            </a:r>
            <a:r>
              <a:rPr dirty="0" err="1"/>
              <a:t>versão</a:t>
            </a:r>
            <a:r>
              <a:rPr dirty="0"/>
              <a:t> </a:t>
            </a:r>
            <a:r>
              <a:rPr dirty="0" err="1"/>
              <a:t>aprovada</a:t>
            </a:r>
            <a:r>
              <a:rPr dirty="0"/>
              <a:t> no SAP Analytics Cloud Planning, </a:t>
            </a:r>
            <a:r>
              <a:rPr dirty="0" err="1"/>
              <a:t>responsável</a:t>
            </a:r>
            <a:r>
              <a:rPr dirty="0"/>
              <a:t> de </a:t>
            </a:r>
            <a:r>
              <a:rPr dirty="0" err="1"/>
              <a:t>publicação</a:t>
            </a:r>
            <a:r>
              <a:rPr dirty="0"/>
              <a:t> e </a:t>
            </a:r>
            <a:r>
              <a:rPr dirty="0" err="1"/>
              <a:t>tratamento</a:t>
            </a:r>
            <a:r>
              <a:rPr dirty="0"/>
              <a:t> de dados </a:t>
            </a:r>
            <a:r>
              <a:rPr dirty="0" err="1"/>
              <a:t>ausentes</a:t>
            </a:r>
            <a:r>
              <a:rPr dirty="0"/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419856"/>
            <a:ext cx="11094415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defRPr sz="1200" b="1">
                <a:solidFill>
                  <a:srgbClr val="1B2A4A"/>
                </a:solidFill>
                <a:latin typeface="Verdana"/>
              </a:defRPr>
            </a:pPr>
            <a:r>
              <a:rPr dirty="0"/>
              <a:t>3. </a:t>
            </a:r>
            <a:r>
              <a:rPr dirty="0" err="1"/>
              <a:t>Ajustes</a:t>
            </a:r>
            <a:r>
              <a:rPr dirty="0"/>
              <a:t>, Auditoria e </a:t>
            </a:r>
            <a:r>
              <a:rPr dirty="0" err="1"/>
              <a:t>Acessos</a:t>
            </a:r>
            <a:endParaRPr dirty="0"/>
          </a:p>
          <a:p>
            <a:pPr>
              <a:defRPr sz="1050">
                <a:solidFill>
                  <a:srgbClr val="5A6B7C"/>
                </a:solidFill>
                <a:latin typeface="Verdana"/>
              </a:defRPr>
            </a:pPr>
            <a:r>
              <a:rPr dirty="0"/>
              <a:t>Campos </a:t>
            </a:r>
            <a:r>
              <a:rPr dirty="0" err="1"/>
              <a:t>obrigatórios</a:t>
            </a:r>
            <a:r>
              <a:rPr dirty="0"/>
              <a:t> (valor, </a:t>
            </a:r>
            <a:r>
              <a:rPr dirty="0" err="1"/>
              <a:t>justificativa</a:t>
            </a:r>
            <a:r>
              <a:rPr dirty="0"/>
              <a:t>, </a:t>
            </a:r>
            <a:r>
              <a:rPr dirty="0" err="1"/>
              <a:t>comentário</a:t>
            </a:r>
            <a:r>
              <a:rPr dirty="0"/>
              <a:t>), </a:t>
            </a:r>
            <a:r>
              <a:rPr dirty="0" err="1"/>
              <a:t>retenção</a:t>
            </a:r>
            <a:r>
              <a:rPr dirty="0"/>
              <a:t> </a:t>
            </a:r>
            <a:r>
              <a:rPr dirty="0" err="1"/>
              <a:t>histórica</a:t>
            </a:r>
            <a:r>
              <a:rPr dirty="0"/>
              <a:t> completa e </a:t>
            </a:r>
            <a:r>
              <a:rPr dirty="0" err="1"/>
              <a:t>matriz</a:t>
            </a:r>
            <a:r>
              <a:rPr dirty="0"/>
              <a:t> de </a:t>
            </a:r>
            <a:r>
              <a:rPr dirty="0" err="1"/>
              <a:t>perfis</a:t>
            </a:r>
            <a:r>
              <a:rPr dirty="0"/>
              <a:t> </a:t>
            </a:r>
            <a:r>
              <a:rPr dirty="0" err="1"/>
              <a:t>autorizados</a:t>
            </a:r>
            <a:r>
              <a:rPr dirty="0"/>
              <a:t> no AERA.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352544"/>
            <a:ext cx="11094415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defRPr sz="1200" b="1">
                <a:solidFill>
                  <a:srgbClr val="1B2A4A"/>
                </a:solidFill>
                <a:latin typeface="Verdana"/>
              </a:defRPr>
            </a:pPr>
            <a:r>
              <a:rPr dirty="0"/>
              <a:t>4. </a:t>
            </a:r>
            <a:r>
              <a:rPr dirty="0" err="1"/>
              <a:t>Saída</a:t>
            </a:r>
            <a:r>
              <a:rPr dirty="0"/>
              <a:t> para Sanity Check (Etapa 3)</a:t>
            </a:r>
          </a:p>
          <a:p>
            <a:pPr>
              <a:defRPr sz="1050">
                <a:solidFill>
                  <a:srgbClr val="5A6B7C"/>
                </a:solidFill>
                <a:latin typeface="Verdana"/>
              </a:defRPr>
            </a:pPr>
            <a:r>
              <a:rPr lang="pt-BR" dirty="0"/>
              <a:t>Verificação do valor proposto no </a:t>
            </a:r>
            <a:r>
              <a:rPr lang="pt-BR" dirty="0" err="1"/>
              <a:t>forecast</a:t>
            </a:r>
            <a:r>
              <a:rPr lang="pt-BR" dirty="0"/>
              <a:t> final em comparação com os valores históricos de venda para cada SKU. </a:t>
            </a:r>
          </a:p>
          <a:p>
            <a:pPr>
              <a:defRPr sz="1050">
                <a:solidFill>
                  <a:srgbClr val="5A6B7C"/>
                </a:solidFill>
                <a:latin typeface="Verdana"/>
              </a:defRPr>
            </a:pPr>
            <a:r>
              <a:rPr lang="pt-BR" dirty="0"/>
              <a:t>Exemplo: historicamente a venda de uma SKU flutua entre 1000 e 1200 e o </a:t>
            </a:r>
            <a:r>
              <a:rPr lang="pt-BR" dirty="0" err="1"/>
              <a:t>forecast</a:t>
            </a:r>
            <a:r>
              <a:rPr lang="pt-BR" dirty="0"/>
              <a:t> está em 25000.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7A87"/>
                </a:solidFill>
                <a:latin typeface="Verdana"/>
              </a:defRPr>
            </a:pPr>
            <a:r>
              <a:t>PROJETO GO &amp; CS | INDÚSTRIA FARMACÊUTICA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415" cy="77724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defRPr sz="2200" b="1">
                <a:solidFill>
                  <a:srgbClr val="1B2A4A"/>
                </a:solidFill>
                <a:latin typeface="Georgia"/>
              </a:defRPr>
            </a:pPr>
            <a:r>
              <a:t>Plano de Execução Sequencial em 6 Fases Garante Simulação e Entrada Segura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11094415" cy="25400"/>
          </a:xfrm>
          <a:prstGeom prst="rect">
            <a:avLst/>
          </a:prstGeom>
          <a:solidFill>
            <a:srgbClr val="2A4D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34747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>
              <a:spcAft>
                <a:spcPts val="600"/>
              </a:spcAft>
              <a:defRPr sz="1200" b="1">
                <a:solidFill>
                  <a:srgbClr val="007A87"/>
                </a:solidFill>
                <a:latin typeface="Verdana"/>
              </a:defRPr>
            </a:pPr>
            <a:r>
              <a:rPr dirty="0"/>
              <a:t>Fase 1: Dados &amp; </a:t>
            </a:r>
            <a:r>
              <a:rPr dirty="0" err="1"/>
              <a:t>Ambiente</a:t>
            </a:r>
            <a:endParaRPr dirty="0"/>
          </a:p>
          <a:p>
            <a:pPr>
              <a:defRPr sz="1050">
                <a:solidFill>
                  <a:srgbClr val="1A2530"/>
                </a:solidFill>
                <a:latin typeface="Verdana"/>
              </a:defRPr>
            </a:pPr>
            <a:r>
              <a:rPr dirty="0"/>
              <a:t>• Carga do plano </a:t>
            </a:r>
            <a:r>
              <a:rPr dirty="0" err="1"/>
              <a:t>financeiro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SKU.</a:t>
            </a:r>
            <a:br>
              <a:rPr dirty="0"/>
            </a:br>
            <a:r>
              <a:rPr dirty="0"/>
              <a:t>• </a:t>
            </a:r>
            <a:r>
              <a:rPr lang="pt-BR" dirty="0"/>
              <a:t>Carga do histórico de vendas por SKU</a:t>
            </a:r>
          </a:p>
          <a:p>
            <a:pPr>
              <a:defRPr sz="1050">
                <a:solidFill>
                  <a:srgbClr val="1A2530"/>
                </a:solidFill>
                <a:latin typeface="Verdana"/>
              </a:defRPr>
            </a:pPr>
            <a:r>
              <a:rPr lang="pt-BR" dirty="0"/>
              <a:t>• Validação dos dados carregados para cada SKU</a:t>
            </a:r>
            <a:br>
              <a:rPr dirty="0"/>
            </a:b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4358030" y="1554480"/>
            <a:ext cx="34747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>
              <a:spcAft>
                <a:spcPts val="600"/>
              </a:spcAft>
              <a:defRPr sz="1200" b="1">
                <a:solidFill>
                  <a:srgbClr val="007A87"/>
                </a:solidFill>
                <a:latin typeface="Verdana"/>
              </a:defRPr>
            </a:pPr>
            <a:r>
              <a:rPr dirty="0"/>
              <a:t>Fase 2: </a:t>
            </a:r>
            <a:r>
              <a:rPr dirty="0" err="1"/>
              <a:t>Configuração</a:t>
            </a:r>
            <a:r>
              <a:rPr dirty="0"/>
              <a:t> AERA</a:t>
            </a:r>
          </a:p>
          <a:p>
            <a:pPr>
              <a:defRPr sz="1050">
                <a:solidFill>
                  <a:srgbClr val="1A2530"/>
                </a:solidFill>
                <a:latin typeface="Verdana"/>
              </a:defRPr>
            </a:pPr>
            <a:r>
              <a:rPr dirty="0"/>
              <a:t>• </a:t>
            </a:r>
            <a:r>
              <a:rPr lang="pt-BR" dirty="0"/>
              <a:t>Implementação da automação no AERA </a:t>
            </a:r>
          </a:p>
          <a:p>
            <a:pPr>
              <a:defRPr sz="1050">
                <a:solidFill>
                  <a:srgbClr val="1A2530"/>
                </a:solidFill>
                <a:latin typeface="Verdana"/>
              </a:defRPr>
            </a:pPr>
            <a:r>
              <a:rPr dirty="0"/>
              <a:t>• </a:t>
            </a:r>
            <a:r>
              <a:rPr lang="pt-BR" dirty="0"/>
              <a:t>Criação de f</a:t>
            </a:r>
            <a:r>
              <a:rPr dirty="0" err="1"/>
              <a:t>ormulário</a:t>
            </a:r>
            <a:r>
              <a:rPr dirty="0"/>
              <a:t> de </a:t>
            </a:r>
            <a:r>
              <a:rPr dirty="0" err="1"/>
              <a:t>ajuste</a:t>
            </a:r>
            <a:r>
              <a:rPr dirty="0"/>
              <a:t> </a:t>
            </a:r>
            <a:endParaRPr lang="pt-BR" dirty="0"/>
          </a:p>
          <a:p>
            <a:pPr>
              <a:defRPr sz="1050">
                <a:solidFill>
                  <a:srgbClr val="1A2530"/>
                </a:solidFill>
                <a:latin typeface="Verdana"/>
              </a:defRPr>
            </a:pPr>
            <a:r>
              <a:rPr lang="pt-BR" dirty="0"/>
              <a:t>• Inclusão da</a:t>
            </a:r>
            <a:r>
              <a:rPr dirty="0"/>
              <a:t> </a:t>
            </a:r>
            <a:r>
              <a:rPr dirty="0" err="1"/>
              <a:t>regra</a:t>
            </a:r>
            <a:r>
              <a:rPr dirty="0"/>
              <a:t> </a:t>
            </a:r>
            <a:r>
              <a:rPr lang="pt-BR" dirty="0"/>
              <a:t>de </a:t>
            </a:r>
            <a:r>
              <a:rPr dirty="0" err="1"/>
              <a:t>limite</a:t>
            </a:r>
            <a:r>
              <a:rPr lang="pt-BR" dirty="0"/>
              <a:t> por SKU</a:t>
            </a:r>
            <a:br>
              <a:rPr dirty="0"/>
            </a:br>
            <a:r>
              <a:rPr dirty="0"/>
              <a:t>• </a:t>
            </a:r>
            <a:r>
              <a:rPr lang="pt-BR" dirty="0"/>
              <a:t>Criação das funcionalidades</a:t>
            </a:r>
            <a:r>
              <a:rPr dirty="0"/>
              <a:t> de auditoria.</a:t>
            </a:r>
            <a:endParaRPr lang="pt-BR" dirty="0"/>
          </a:p>
          <a:p>
            <a:pPr>
              <a:defRPr sz="1050">
                <a:solidFill>
                  <a:srgbClr val="1A2530"/>
                </a:solidFill>
                <a:latin typeface="Verdana"/>
              </a:defRPr>
            </a:pPr>
            <a:endParaRPr lang="pt-BR" dirty="0"/>
          </a:p>
          <a:p>
            <a:pPr>
              <a:defRPr sz="1050">
                <a:solidFill>
                  <a:srgbClr val="1A2530"/>
                </a:solidFill>
                <a:latin typeface="Verdana"/>
              </a:defRPr>
            </a:pPr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8168335" y="1554480"/>
            <a:ext cx="34747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>
              <a:spcAft>
                <a:spcPts val="600"/>
              </a:spcAft>
              <a:defRPr sz="1200" b="1">
                <a:solidFill>
                  <a:srgbClr val="007A87"/>
                </a:solidFill>
                <a:latin typeface="Verdana"/>
              </a:defRPr>
            </a:pPr>
            <a:r>
              <a:rPr dirty="0"/>
              <a:t>Fase 3: Teste </a:t>
            </a:r>
            <a:r>
              <a:rPr lang="pt-BR" dirty="0"/>
              <a:t>funcional do processo de alterações</a:t>
            </a:r>
            <a:endParaRPr dirty="0"/>
          </a:p>
          <a:p>
            <a:pPr>
              <a:defRPr sz="1050">
                <a:solidFill>
                  <a:srgbClr val="1A2530"/>
                </a:solidFill>
                <a:latin typeface="Verdana"/>
              </a:defRPr>
            </a:pPr>
            <a:r>
              <a:rPr dirty="0"/>
              <a:t>• </a:t>
            </a:r>
            <a:r>
              <a:rPr dirty="0" err="1"/>
              <a:t>Bloqueio</a:t>
            </a:r>
            <a:r>
              <a:rPr dirty="0"/>
              <a:t> de </a:t>
            </a:r>
            <a:r>
              <a:rPr dirty="0" err="1"/>
              <a:t>ajuste</a:t>
            </a:r>
            <a:r>
              <a:rPr dirty="0"/>
              <a:t> </a:t>
            </a:r>
            <a:r>
              <a:rPr dirty="0" err="1"/>
              <a:t>sem</a:t>
            </a:r>
            <a:r>
              <a:rPr dirty="0"/>
              <a:t> </a:t>
            </a:r>
            <a:r>
              <a:rPr dirty="0" err="1"/>
              <a:t>justificativa</a:t>
            </a:r>
            <a:r>
              <a:rPr dirty="0"/>
              <a:t>.</a:t>
            </a:r>
            <a:br>
              <a:rPr dirty="0"/>
            </a:br>
            <a:r>
              <a:rPr dirty="0"/>
              <a:t>• </a:t>
            </a:r>
            <a:r>
              <a:rPr lang="pt-BR" dirty="0"/>
              <a:t>Bloqueio</a:t>
            </a:r>
            <a:r>
              <a:rPr dirty="0"/>
              <a:t> de </a:t>
            </a:r>
            <a:r>
              <a:rPr lang="pt-BR" dirty="0"/>
              <a:t>alterações abaixo do </a:t>
            </a:r>
            <a:r>
              <a:rPr dirty="0" err="1"/>
              <a:t>limite</a:t>
            </a:r>
            <a:r>
              <a:rPr lang="pt-BR" dirty="0"/>
              <a:t>.</a:t>
            </a:r>
            <a:br>
              <a:rPr dirty="0"/>
            </a:br>
            <a:r>
              <a:rPr dirty="0"/>
              <a:t>• </a:t>
            </a:r>
            <a:r>
              <a:rPr lang="pt-BR" dirty="0"/>
              <a:t>Geração </a:t>
            </a:r>
            <a:r>
              <a:rPr dirty="0"/>
              <a:t>de </a:t>
            </a:r>
            <a:r>
              <a:rPr dirty="0" err="1"/>
              <a:t>relatório</a:t>
            </a:r>
            <a:r>
              <a:rPr lang="pt-BR" dirty="0"/>
              <a:t> de alterações</a:t>
            </a:r>
            <a:r>
              <a:rPr dirty="0"/>
              <a:t> </a:t>
            </a:r>
            <a:r>
              <a:rPr lang="pt-BR" dirty="0"/>
              <a:t>para</a:t>
            </a:r>
            <a:r>
              <a:rPr dirty="0"/>
              <a:t> auditoria.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023360"/>
            <a:ext cx="34747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>
              <a:spcAft>
                <a:spcPts val="600"/>
              </a:spcAft>
              <a:defRPr sz="1200" b="1">
                <a:solidFill>
                  <a:srgbClr val="007A87"/>
                </a:solidFill>
                <a:latin typeface="Verdana"/>
              </a:defRPr>
            </a:pPr>
            <a:r>
              <a:rPr dirty="0"/>
              <a:t>Fase 4: </a:t>
            </a:r>
            <a:r>
              <a:rPr dirty="0" err="1"/>
              <a:t>Simulação</a:t>
            </a:r>
            <a:r>
              <a:rPr lang="pt-BR" dirty="0"/>
              <a:t> completa do processo de alterações</a:t>
            </a:r>
            <a:endParaRPr dirty="0"/>
          </a:p>
          <a:p>
            <a:pPr>
              <a:defRPr sz="1050">
                <a:solidFill>
                  <a:srgbClr val="1A2530"/>
                </a:solidFill>
                <a:latin typeface="Verdana"/>
              </a:defRPr>
            </a:pPr>
            <a:r>
              <a:rPr dirty="0"/>
              <a:t>• </a:t>
            </a:r>
            <a:r>
              <a:rPr dirty="0" err="1"/>
              <a:t>Execução</a:t>
            </a:r>
            <a:r>
              <a:rPr dirty="0"/>
              <a:t> de </a:t>
            </a:r>
            <a:r>
              <a:rPr dirty="0" err="1"/>
              <a:t>ciclo</a:t>
            </a:r>
            <a:r>
              <a:rPr dirty="0"/>
              <a:t> </a:t>
            </a:r>
            <a:r>
              <a:rPr dirty="0" err="1"/>
              <a:t>completo</a:t>
            </a:r>
            <a:r>
              <a:rPr dirty="0"/>
              <a:t> no AERA.</a:t>
            </a:r>
            <a:br>
              <a:rPr dirty="0"/>
            </a:br>
            <a:r>
              <a:rPr dirty="0"/>
              <a:t>• </a:t>
            </a:r>
            <a:r>
              <a:rPr dirty="0" err="1"/>
              <a:t>Validação</a:t>
            </a:r>
            <a:r>
              <a:rPr dirty="0"/>
              <a:t> da </a:t>
            </a:r>
            <a:r>
              <a:rPr dirty="0" err="1"/>
              <a:t>saída</a:t>
            </a:r>
            <a:r>
              <a:rPr dirty="0"/>
              <a:t> para o Sanity Check.</a:t>
            </a:r>
            <a:br>
              <a:rPr dirty="0"/>
            </a:br>
            <a:r>
              <a:rPr dirty="0"/>
              <a:t>• </a:t>
            </a:r>
            <a:r>
              <a:rPr dirty="0" err="1"/>
              <a:t>Aprovação</a:t>
            </a:r>
            <a:r>
              <a:rPr dirty="0"/>
              <a:t> d</a:t>
            </a:r>
            <a:r>
              <a:rPr lang="pt-BR" dirty="0"/>
              <a:t>o processo revisado por </a:t>
            </a:r>
            <a:r>
              <a:rPr dirty="0"/>
              <a:t>Marketing/Supply/Fin.</a:t>
            </a:r>
            <a:endParaRPr lang="pt-BR" dirty="0"/>
          </a:p>
          <a:p>
            <a:pPr>
              <a:defRPr sz="1050">
                <a:solidFill>
                  <a:srgbClr val="1A2530"/>
                </a:solidFill>
                <a:latin typeface="Verdana"/>
              </a:defRPr>
            </a:pPr>
            <a:endParaRPr dirty="0"/>
          </a:p>
        </p:txBody>
      </p:sp>
      <p:sp>
        <p:nvSpPr>
          <p:cNvPr id="9" name="Rounded Rectangle 8"/>
          <p:cNvSpPr/>
          <p:nvPr/>
        </p:nvSpPr>
        <p:spPr>
          <a:xfrm>
            <a:off x="4358030" y="4023360"/>
            <a:ext cx="34747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>
              <a:spcAft>
                <a:spcPts val="600"/>
              </a:spcAft>
              <a:defRPr sz="1200" b="1">
                <a:solidFill>
                  <a:srgbClr val="007A87"/>
                </a:solidFill>
                <a:latin typeface="Verdana"/>
              </a:defRPr>
            </a:pPr>
            <a:r>
              <a:rPr dirty="0"/>
              <a:t>Fase 5: </a:t>
            </a:r>
            <a:r>
              <a:rPr dirty="0" err="1"/>
              <a:t>Treinamento</a:t>
            </a:r>
            <a:r>
              <a:rPr dirty="0"/>
              <a:t> &amp; Go-Live</a:t>
            </a:r>
          </a:p>
          <a:p>
            <a:pPr>
              <a:defRPr sz="1050">
                <a:solidFill>
                  <a:srgbClr val="1A2530"/>
                </a:solidFill>
                <a:latin typeface="Verdana"/>
              </a:defRPr>
            </a:pPr>
            <a:r>
              <a:rPr dirty="0"/>
              <a:t>• </a:t>
            </a:r>
            <a:r>
              <a:rPr dirty="0" err="1"/>
              <a:t>Capacitação</a:t>
            </a:r>
            <a:r>
              <a:rPr dirty="0"/>
              <a:t> de </a:t>
            </a:r>
            <a:r>
              <a:rPr lang="pt-BR" dirty="0"/>
              <a:t>stakeholders envolvidos</a:t>
            </a:r>
            <a:r>
              <a:rPr dirty="0"/>
              <a:t>.</a:t>
            </a:r>
            <a:br>
              <a:rPr dirty="0"/>
            </a:br>
            <a:r>
              <a:rPr dirty="0"/>
              <a:t>• </a:t>
            </a:r>
            <a:r>
              <a:rPr dirty="0" err="1"/>
              <a:t>Comunicação</a:t>
            </a:r>
            <a:r>
              <a:rPr dirty="0"/>
              <a:t> do </a:t>
            </a:r>
            <a:r>
              <a:rPr dirty="0" err="1"/>
              <a:t>calendário</a:t>
            </a:r>
            <a:r>
              <a:rPr lang="pt-BR" dirty="0"/>
              <a:t> de implementação</a:t>
            </a:r>
            <a:r>
              <a:rPr dirty="0"/>
              <a:t>.</a:t>
            </a:r>
            <a:br>
              <a:rPr dirty="0"/>
            </a:br>
            <a:r>
              <a:rPr dirty="0"/>
              <a:t>• </a:t>
            </a:r>
            <a:r>
              <a:rPr dirty="0" err="1"/>
              <a:t>Acompanhamento</a:t>
            </a:r>
            <a:r>
              <a:rPr dirty="0"/>
              <a:t> do </a:t>
            </a:r>
            <a:r>
              <a:rPr lang="pt-BR" dirty="0"/>
              <a:t>processo em produção por 6 meses</a:t>
            </a:r>
            <a:r>
              <a:rPr dirty="0"/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68335" y="4023360"/>
            <a:ext cx="34747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>
              <a:spcAft>
                <a:spcPts val="600"/>
              </a:spcAft>
              <a:defRPr sz="1200" b="1">
                <a:solidFill>
                  <a:srgbClr val="007A87"/>
                </a:solidFill>
                <a:latin typeface="Verdana"/>
              </a:defRPr>
            </a:pPr>
            <a:r>
              <a:rPr dirty="0"/>
              <a:t>Fase 6: </a:t>
            </a:r>
            <a:r>
              <a:rPr dirty="0" err="1"/>
              <a:t>Estabilização</a:t>
            </a:r>
            <a:r>
              <a:rPr dirty="0"/>
              <a:t> &amp; KPIs</a:t>
            </a:r>
          </a:p>
          <a:p>
            <a:pPr>
              <a:defRPr sz="1050">
                <a:solidFill>
                  <a:srgbClr val="1A2530"/>
                </a:solidFill>
                <a:latin typeface="Verdana"/>
              </a:defRPr>
            </a:pPr>
            <a:r>
              <a:rPr lang="pt-BR" dirty="0"/>
              <a:t>• Relatório mensais de performance</a:t>
            </a:r>
          </a:p>
          <a:p>
            <a:pPr>
              <a:defRPr sz="1050">
                <a:solidFill>
                  <a:srgbClr val="1A2530"/>
                </a:solidFill>
                <a:latin typeface="Verdana"/>
              </a:defRPr>
            </a:pPr>
            <a:r>
              <a:rPr dirty="0"/>
              <a:t>• </a:t>
            </a:r>
            <a:r>
              <a:rPr lang="pt-BR" dirty="0"/>
              <a:t>Monitoração dos níveis</a:t>
            </a:r>
            <a:r>
              <a:rPr dirty="0"/>
              <a:t> de D&amp;O</a:t>
            </a:r>
            <a:r>
              <a:rPr lang="pt-BR" dirty="0"/>
              <a:t>, </a:t>
            </a:r>
            <a:r>
              <a:rPr dirty="0"/>
              <a:t>Lost Sales</a:t>
            </a:r>
            <a:r>
              <a:rPr lang="pt-BR" dirty="0"/>
              <a:t> e níveis de estoque.</a:t>
            </a:r>
            <a:br>
              <a:rPr dirty="0"/>
            </a:br>
            <a:r>
              <a:rPr dirty="0"/>
              <a:t>• </a:t>
            </a:r>
            <a:r>
              <a:rPr dirty="0" err="1"/>
              <a:t>Comparação</a:t>
            </a:r>
            <a:r>
              <a:rPr dirty="0"/>
              <a:t> contra baseline.</a:t>
            </a:r>
            <a:endParaRPr lang="pt-BR" dirty="0"/>
          </a:p>
          <a:p>
            <a:pPr>
              <a:defRPr sz="1050">
                <a:solidFill>
                  <a:srgbClr val="1A2530"/>
                </a:solidFill>
                <a:latin typeface="Verdana"/>
              </a:defRPr>
            </a:pPr>
            <a:r>
              <a:rPr lang="pt-BR" dirty="0"/>
              <a:t>• Avaliação dos gaps mais relevantes para entender as suas causas para melhoria contínua do processo</a:t>
            </a:r>
            <a:br>
              <a:rPr dirty="0"/>
            </a:b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7A87"/>
                </a:solidFill>
                <a:latin typeface="Verdana"/>
              </a:defRPr>
            </a:pPr>
            <a:r>
              <a:t>PROJETO GO &amp; CS | INDÚSTRIA FARMACÊUTICA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415" cy="77724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defRPr sz="2200" b="1">
                <a:solidFill>
                  <a:srgbClr val="1B2A4A"/>
                </a:solidFill>
                <a:latin typeface="Georgia"/>
              </a:defRPr>
            </a:pPr>
            <a:r>
              <a:t>Matriz de Gestão de Riscos Prevê Mitigações e Protocolo de Contingência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11094415" cy="25400"/>
          </a:xfrm>
          <a:prstGeom prst="rect">
            <a:avLst/>
          </a:prstGeom>
          <a:solidFill>
            <a:srgbClr val="2A4D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3420758"/>
              </p:ext>
            </p:extLst>
          </p:nvPr>
        </p:nvGraphicFramePr>
        <p:xfrm>
          <a:off x="548640" y="1554480"/>
          <a:ext cx="11094415" cy="2278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819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Verdana"/>
                        </a:defRPr>
                      </a:pPr>
                      <a:r>
                        <a:t>Evento de Risco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Verdana"/>
                        </a:defRPr>
                      </a:pPr>
                      <a:r>
                        <a:rPr dirty="0" err="1"/>
                        <a:t>Ação</a:t>
                      </a:r>
                      <a:r>
                        <a:rPr dirty="0"/>
                        <a:t> de </a:t>
                      </a:r>
                      <a:r>
                        <a:rPr dirty="0" err="1"/>
                        <a:t>Prevenção</a:t>
                      </a:r>
                      <a:endParaRPr dirty="0"/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Verdana"/>
                        </a:defRPr>
                      </a:pPr>
                      <a:r>
                        <a:t>Condição de Superação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Verdana"/>
                        </a:defRPr>
                      </a:pPr>
                      <a:r>
                        <a:t>Ação se Não Atendida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2530"/>
                          </a:solidFill>
                          <a:latin typeface="Verdana"/>
                        </a:defRPr>
                      </a:pPr>
                      <a:r>
                        <a:rPr lang="pt-BR" dirty="0"/>
                        <a:t>Resistência à mudança</a:t>
                      </a:r>
                      <a:endParaRPr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2530"/>
                          </a:solidFill>
                          <a:latin typeface="Verdana"/>
                        </a:defRPr>
                      </a:pPr>
                      <a:r>
                        <a:rPr lang="pt-BR" dirty="0"/>
                        <a:t>Alinhamento entre stakeholders </a:t>
                      </a:r>
                    </a:p>
                    <a:p>
                      <a:pPr>
                        <a:defRPr sz="950">
                          <a:solidFill>
                            <a:srgbClr val="1A2530"/>
                          </a:solidFill>
                          <a:latin typeface="Verdana"/>
                        </a:defRPr>
                      </a:pPr>
                      <a:r>
                        <a:rPr lang="pt-BR" dirty="0"/>
                        <a:t>Apresentação dos benefícios da implementação do processo.</a:t>
                      </a:r>
                      <a:endParaRPr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2530"/>
                          </a:solidFill>
                          <a:latin typeface="Verdana"/>
                        </a:defRPr>
                      </a:pPr>
                      <a:r>
                        <a:rPr lang="pt-BR" dirty="0"/>
                        <a:t>Definir </a:t>
                      </a:r>
                      <a:r>
                        <a:rPr lang="pt-BR" dirty="0" err="1"/>
                        <a:t>sponsor</a:t>
                      </a:r>
                      <a:r>
                        <a:rPr lang="pt-BR" dirty="0"/>
                        <a:t> do projeto para atuação visando a remoção de barreiras à implementação.</a:t>
                      </a:r>
                      <a:endParaRPr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2530"/>
                          </a:solidFill>
                          <a:latin typeface="Verdana"/>
                        </a:defRPr>
                      </a:pPr>
                      <a:r>
                        <a:rPr lang="pt-BR" dirty="0"/>
                        <a:t>Acionamento do </a:t>
                      </a:r>
                      <a:r>
                        <a:rPr lang="pt-BR" dirty="0" err="1"/>
                        <a:t>sponsor</a:t>
                      </a:r>
                      <a:r>
                        <a:rPr lang="pt-BR" dirty="0"/>
                        <a:t> do projeto para coordenação com direção das áreas dos stakeholders.</a:t>
                      </a:r>
                      <a:endParaRPr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2530"/>
                          </a:solidFill>
                          <a:latin typeface="Verdana"/>
                        </a:defRPr>
                      </a:pPr>
                      <a:r>
                        <a:rPr lang="pt-BR" dirty="0"/>
                        <a:t>Subdimensionamento da demanda por conta do baseline ser baseado no plano financeiro, que tende a ser mais conservador.</a:t>
                      </a:r>
                      <a:endParaRPr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2530"/>
                          </a:solidFill>
                          <a:latin typeface="Verdana"/>
                        </a:defRPr>
                      </a:pPr>
                      <a:r>
                        <a:rPr lang="pt-BR" dirty="0"/>
                        <a:t>Mudança do plano financeiro para ficar alinhado com a expectativa de demanda realista compensada por estimativa conservadora em produtos específicos que que tenham justificativa.</a:t>
                      </a:r>
                      <a:endParaRPr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2530"/>
                          </a:solidFill>
                          <a:latin typeface="Verdana"/>
                        </a:defRPr>
                      </a:pPr>
                      <a:r>
                        <a:rPr lang="pt-BR" dirty="0"/>
                        <a:t>Cultura de que financial </a:t>
                      </a:r>
                      <a:r>
                        <a:rPr lang="pt-BR" dirty="0" err="1"/>
                        <a:t>forecast</a:t>
                      </a:r>
                      <a:r>
                        <a:rPr lang="pt-BR" dirty="0"/>
                        <a:t> e </a:t>
                      </a:r>
                      <a:r>
                        <a:rPr lang="pt-BR" dirty="0" err="1"/>
                        <a:t>demand</a:t>
                      </a:r>
                      <a:r>
                        <a:rPr lang="pt-BR" dirty="0"/>
                        <a:t> </a:t>
                      </a:r>
                      <a:r>
                        <a:rPr lang="pt-BR" dirty="0" err="1"/>
                        <a:t>forecast</a:t>
                      </a:r>
                      <a:r>
                        <a:rPr lang="pt-BR" dirty="0"/>
                        <a:t> devem andar juntos.</a:t>
                      </a:r>
                      <a:endParaRPr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2530"/>
                          </a:solidFill>
                          <a:latin typeface="Verdana"/>
                        </a:defRPr>
                      </a:pPr>
                      <a:r>
                        <a:rPr lang="pt-BR" dirty="0"/>
                        <a:t>Gestão da situação pela equipe de marketing com o comercial.</a:t>
                      </a:r>
                      <a:endParaRPr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4391525"/>
            <a:ext cx="11094415" cy="145582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defRPr sz="1100" b="1">
                <a:solidFill>
                  <a:srgbClr val="B03A2E"/>
                </a:solidFill>
                <a:latin typeface="Verdana"/>
              </a:defRPr>
            </a:pPr>
            <a:r>
              <a:rPr dirty="0"/>
              <a:t>PROTOCOLO DE CONTINGÊNCIA OPERACIONAL:</a:t>
            </a:r>
            <a:endParaRPr lang="pt-BR" dirty="0"/>
          </a:p>
          <a:p>
            <a:pPr algn="ctr">
              <a:defRPr sz="1100" b="1">
                <a:solidFill>
                  <a:srgbClr val="B03A2E"/>
                </a:solidFill>
                <a:latin typeface="Verdana"/>
              </a:defRPr>
            </a:pPr>
            <a:endParaRPr dirty="0"/>
          </a:p>
          <a:p>
            <a:pPr>
              <a:defRPr sz="1000">
                <a:solidFill>
                  <a:srgbClr val="1A2530"/>
                </a:solidFill>
                <a:latin typeface="Verdana"/>
              </a:defRPr>
            </a:pPr>
            <a:r>
              <a:rPr lang="pt-BR" dirty="0"/>
              <a:t>• </a:t>
            </a:r>
            <a:r>
              <a:rPr dirty="0"/>
              <a:t>Em </a:t>
            </a:r>
            <a:r>
              <a:rPr dirty="0" err="1"/>
              <a:t>caso</a:t>
            </a:r>
            <a:r>
              <a:rPr dirty="0"/>
              <a:t> de </a:t>
            </a:r>
            <a:r>
              <a:rPr dirty="0" err="1"/>
              <a:t>falha</a:t>
            </a:r>
            <a:r>
              <a:rPr dirty="0"/>
              <a:t> </a:t>
            </a:r>
            <a:r>
              <a:rPr dirty="0" err="1"/>
              <a:t>crítica</a:t>
            </a:r>
            <a:r>
              <a:rPr dirty="0"/>
              <a:t> antes da </a:t>
            </a:r>
            <a:r>
              <a:rPr dirty="0" err="1"/>
              <a:t>consolidação</a:t>
            </a:r>
            <a:r>
              <a:rPr dirty="0"/>
              <a:t> do forecast, o </a:t>
            </a:r>
            <a:r>
              <a:rPr dirty="0" err="1"/>
              <a:t>ciclo</a:t>
            </a:r>
            <a:r>
              <a:rPr dirty="0"/>
              <a:t> </a:t>
            </a:r>
            <a:r>
              <a:rPr dirty="0" err="1"/>
              <a:t>afetado</a:t>
            </a:r>
            <a:r>
              <a:rPr dirty="0"/>
              <a:t> </a:t>
            </a:r>
            <a:r>
              <a:rPr dirty="0" err="1"/>
              <a:t>retorna</a:t>
            </a:r>
            <a:r>
              <a:rPr dirty="0"/>
              <a:t> </a:t>
            </a:r>
            <a:r>
              <a:rPr dirty="0" err="1"/>
              <a:t>temporariamente</a:t>
            </a:r>
            <a:r>
              <a:rPr dirty="0"/>
              <a:t> </a:t>
            </a:r>
            <a:r>
              <a:rPr dirty="0" err="1"/>
              <a:t>ao</a:t>
            </a:r>
            <a:r>
              <a:rPr dirty="0"/>
              <a:t> </a:t>
            </a:r>
            <a:r>
              <a:rPr dirty="0" err="1"/>
              <a:t>fluxo</a:t>
            </a:r>
            <a:r>
              <a:rPr dirty="0"/>
              <a:t> </a:t>
            </a:r>
            <a:r>
              <a:rPr dirty="0" err="1"/>
              <a:t>legado</a:t>
            </a:r>
            <a:r>
              <a:rPr dirty="0"/>
              <a:t> das </a:t>
            </a:r>
            <a:r>
              <a:rPr dirty="0" err="1"/>
              <a:t>etapas</a:t>
            </a:r>
            <a:r>
              <a:rPr dirty="0"/>
              <a:t> 1 e 2. </a:t>
            </a:r>
            <a:endParaRPr lang="pt-BR" dirty="0"/>
          </a:p>
          <a:p>
            <a:pPr>
              <a:defRPr sz="1000">
                <a:solidFill>
                  <a:srgbClr val="1A2530"/>
                </a:solidFill>
                <a:latin typeface="Verdana"/>
              </a:defRPr>
            </a:pPr>
            <a:r>
              <a:rPr lang="pt-BR" dirty="0"/>
              <a:t>• </a:t>
            </a:r>
            <a:r>
              <a:rPr dirty="0" err="1"/>
              <a:t>Os</a:t>
            </a:r>
            <a:r>
              <a:rPr dirty="0"/>
              <a:t> dados </a:t>
            </a:r>
            <a:r>
              <a:rPr dirty="0" err="1"/>
              <a:t>já</a:t>
            </a:r>
            <a:r>
              <a:rPr dirty="0"/>
              <a:t> </a:t>
            </a:r>
            <a:r>
              <a:rPr dirty="0" err="1"/>
              <a:t>registrados</a:t>
            </a:r>
            <a:r>
              <a:rPr dirty="0"/>
              <a:t> no AERA </a:t>
            </a:r>
            <a:r>
              <a:rPr dirty="0" err="1"/>
              <a:t>são</a:t>
            </a:r>
            <a:r>
              <a:rPr dirty="0"/>
              <a:t> </a:t>
            </a:r>
            <a:r>
              <a:rPr dirty="0" err="1"/>
              <a:t>totalmente</a:t>
            </a:r>
            <a:r>
              <a:rPr dirty="0"/>
              <a:t> </a:t>
            </a:r>
            <a:r>
              <a:rPr dirty="0" err="1"/>
              <a:t>mantidos</a:t>
            </a:r>
            <a:r>
              <a:rPr dirty="0"/>
              <a:t> para auditoria e </a:t>
            </a:r>
            <a:r>
              <a:rPr dirty="0" err="1"/>
              <a:t>diagnóstico</a:t>
            </a:r>
            <a:r>
              <a:rPr dirty="0"/>
              <a:t>. </a:t>
            </a:r>
            <a:endParaRPr lang="pt-BR" dirty="0"/>
          </a:p>
          <a:p>
            <a:pPr>
              <a:defRPr sz="1000">
                <a:solidFill>
                  <a:srgbClr val="1A2530"/>
                </a:solidFill>
                <a:latin typeface="Verdana"/>
              </a:defRPr>
            </a:pPr>
            <a:r>
              <a:rPr lang="pt-BR" dirty="0"/>
              <a:t>• </a:t>
            </a:r>
            <a:r>
              <a:rPr dirty="0"/>
              <a:t>As </a:t>
            </a:r>
            <a:r>
              <a:rPr dirty="0" err="1"/>
              <a:t>etapas</a:t>
            </a:r>
            <a:r>
              <a:rPr dirty="0"/>
              <a:t> 3 a 5 do Supply Chain e Fábricas </a:t>
            </a:r>
            <a:r>
              <a:rPr dirty="0" err="1"/>
              <a:t>permanecem</a:t>
            </a:r>
            <a:r>
              <a:rPr dirty="0"/>
              <a:t> 100% </a:t>
            </a:r>
            <a:r>
              <a:rPr dirty="0" err="1"/>
              <a:t>inalteradas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273</TotalTime>
  <Words>2286</Words>
  <Application>Microsoft Office PowerPoint</Application>
  <PresentationFormat>Widescreen</PresentationFormat>
  <Paragraphs>126</Paragraphs>
  <Slides>7</Slides>
  <Notes>7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André Moreira</cp:lastModifiedBy>
  <cp:revision>1</cp:revision>
  <dcterms:created xsi:type="dcterms:W3CDTF">2013-01-27T09:14:16Z</dcterms:created>
  <dcterms:modified xsi:type="dcterms:W3CDTF">2026-10-21T21:13:18Z</dcterms:modified>
  <cp:category/>
</cp:coreProperties>
</file>